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535" r:id="rId3"/>
    <p:sldId id="548" r:id="rId4"/>
    <p:sldId id="485" r:id="rId5"/>
    <p:sldId id="558" r:id="rId6"/>
    <p:sldId id="565" r:id="rId7"/>
    <p:sldId id="566" r:id="rId8"/>
    <p:sldId id="533" r:id="rId9"/>
    <p:sldId id="549" r:id="rId10"/>
    <p:sldId id="568" r:id="rId11"/>
    <p:sldId id="567" r:id="rId12"/>
    <p:sldId id="569" r:id="rId13"/>
    <p:sldId id="542" r:id="rId14"/>
    <p:sldId id="543" r:id="rId15"/>
    <p:sldId id="54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FF5050"/>
    <a:srgbClr val="FF6600"/>
    <a:srgbClr val="0033CC"/>
    <a:srgbClr val="0066CC"/>
    <a:srgbClr val="990000"/>
    <a:srgbClr val="008000"/>
    <a:srgbClr val="CCFFFF"/>
    <a:srgbClr val="A50021"/>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0" d="100"/>
          <a:sy n="90" d="100"/>
        </p:scale>
        <p:origin x="174" y="4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us\OneDrive\Desktop\Project_Excel\Astrosage_Analysis\Project%20Astrosage\Excel%20sheet%20answer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sheet answers.xlsx]pivots!PivotTable2</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a:solidFill>
                  <a:schemeClr val="accent6">
                    <a:lumMod val="50000"/>
                  </a:schemeClr>
                </a:solidFill>
                <a:latin typeface="Bell MT" panose="02020503060305020303" pitchFamily="18" charset="0"/>
              </a:rPr>
              <a:t>Website</a:t>
            </a:r>
            <a:r>
              <a:rPr lang="en-US" sz="2000" b="1" baseline="0">
                <a:solidFill>
                  <a:schemeClr val="accent6">
                    <a:lumMod val="50000"/>
                  </a:schemeClr>
                </a:solidFill>
                <a:latin typeface="Bell MT" panose="02020503060305020303" pitchFamily="18" charset="0"/>
              </a:rPr>
              <a:t> Distribution</a:t>
            </a:r>
            <a:endParaRPr lang="en-US" sz="2000" b="1">
              <a:solidFill>
                <a:schemeClr val="accent6">
                  <a:lumMod val="50000"/>
                </a:schemeClr>
              </a:solidFill>
              <a:latin typeface="Bell MT" panose="02020503060305020303" pitchFamily="18" charset="0"/>
            </a:endParaRPr>
          </a:p>
        </c:rich>
      </c:tx>
      <c:layout>
        <c:manualLayout>
          <c:xMode val="edge"/>
          <c:yMode val="edge"/>
          <c:x val="0.21546922673045901"/>
          <c:y val="4.053970528480930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a:outerShdw blurRad="50800" dist="50800" dir="5400000" sx="1000" sy="1000" algn="ctr" rotWithShape="0">
              <a:srgbClr val="000000">
                <a:alpha val="43137"/>
              </a:srgbClr>
            </a:outerShdw>
          </a:effectLst>
        </c:spPr>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4"/>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5.5555664916885392E-2"/>
              <c:y val="-9.7222222222222224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4320844269466315"/>
                  <c:h val="0.12030110819480898"/>
                </c:manualLayout>
              </c15:layout>
              <c15:dlblFieldTable/>
              <c15:showDataLabelsRange val="0"/>
            </c:ext>
          </c:extLst>
        </c:dLbl>
      </c:pivotFmt>
      <c:pivotFmt>
        <c:idx val="6"/>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7"/>
        <c:spPr>
          <a:solidFill>
            <a:schemeClr val="accent2"/>
          </a:solidFill>
          <a:ln w="19050">
            <a:solidFill>
              <a:schemeClr val="lt1"/>
            </a:solidFill>
          </a:ln>
          <a:effectLst/>
        </c:spPr>
        <c:dLbl>
          <c:idx val="0"/>
          <c:layout>
            <c:manualLayout>
              <c:x val="-7.4999890638670144E-2"/>
              <c:y val="9.25925925925917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604150-8036-4CEE-83E1-BEE3E165FA94}"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2376399825021869"/>
                  <c:h val="0.16196777486147565"/>
                </c:manualLayout>
              </c15:layout>
              <c15:dlblFieldTable/>
              <c15:showDataLabelsRange val="0"/>
            </c:ext>
          </c:extLst>
        </c:dLbl>
      </c:pivotFmt>
      <c:pivotFmt>
        <c:idx val="8"/>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5.5555664916885392E-2"/>
              <c:y val="-9.7222222222222224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4320844269466315"/>
                  <c:h val="0.12030110819480898"/>
                </c:manualLayout>
              </c15:layout>
              <c15:dlblFieldTable/>
              <c15:showDataLabelsRange val="0"/>
            </c:ext>
          </c:extLst>
        </c:dLbl>
      </c:pivotFmt>
      <c:pivotFmt>
        <c:idx val="10"/>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11"/>
        <c:spPr>
          <a:solidFill>
            <a:schemeClr val="accent2"/>
          </a:solidFill>
          <a:ln w="19050">
            <a:solidFill>
              <a:schemeClr val="lt1"/>
            </a:solidFill>
          </a:ln>
          <a:effectLst/>
        </c:spPr>
        <c:dLbl>
          <c:idx val="0"/>
          <c:layout>
            <c:manualLayout>
              <c:x val="-7.4999890638670144E-2"/>
              <c:y val="9.25925925925917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604150-8036-4CEE-83E1-BEE3E165FA94}"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2376399825021869"/>
                  <c:h val="0.16196777486147565"/>
                </c:manualLayout>
              </c15:layout>
              <c15:dlblFieldTable/>
              <c15:showDataLabelsRange val="0"/>
            </c:ext>
          </c:extLst>
        </c:dLbl>
      </c:pivotFmt>
      <c:pivotFmt>
        <c:idx val="12"/>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5.5555664916885392E-2"/>
              <c:y val="-9.7222222222222224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4320844269466315"/>
                  <c:h val="0.12030110819480898"/>
                </c:manualLayout>
              </c15:layout>
              <c15:dlblFieldTable/>
              <c15:showDataLabelsRange val="0"/>
            </c:ext>
          </c:extLst>
        </c:dLbl>
      </c:pivotFmt>
      <c:pivotFmt>
        <c:idx val="14"/>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15"/>
        <c:spPr>
          <a:solidFill>
            <a:schemeClr val="accent2"/>
          </a:solidFill>
          <a:ln w="19050">
            <a:solidFill>
              <a:schemeClr val="lt1"/>
            </a:solidFill>
          </a:ln>
          <a:effectLst/>
        </c:spPr>
        <c:dLbl>
          <c:idx val="0"/>
          <c:layout>
            <c:manualLayout>
              <c:x val="-7.4999890638670144E-2"/>
              <c:y val="9.25925925925917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604150-8036-4CEE-83E1-BEE3E165FA94}"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2376399825021869"/>
                  <c:h val="0.16196777486147565"/>
                </c:manualLayout>
              </c15:layout>
              <c15:dlblFieldTable/>
              <c15:showDataLabelsRange val="0"/>
            </c:ext>
          </c:extLst>
        </c:dLbl>
      </c:pivotFmt>
      <c:pivotFmt>
        <c:idx val="16"/>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5.5555664916885392E-2"/>
              <c:y val="-9.7222222222222224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4320844269466315"/>
                  <c:h val="0.12030110819480898"/>
                </c:manualLayout>
              </c15:layout>
              <c15:dlblFieldTable/>
              <c15:showDataLabelsRange val="0"/>
            </c:ext>
          </c:extLst>
        </c:dLbl>
      </c:pivotFmt>
      <c:pivotFmt>
        <c:idx val="18"/>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19"/>
        <c:spPr>
          <a:solidFill>
            <a:schemeClr val="accent2"/>
          </a:solidFill>
          <a:ln w="19050">
            <a:solidFill>
              <a:schemeClr val="lt1"/>
            </a:solidFill>
          </a:ln>
          <a:effectLst/>
        </c:spPr>
        <c:dLbl>
          <c:idx val="0"/>
          <c:layout>
            <c:manualLayout>
              <c:x val="-7.4999890638670144E-2"/>
              <c:y val="9.25925925925917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604150-8036-4CEE-83E1-BEE3E165FA94}"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2376399825021869"/>
                  <c:h val="0.16196777486147565"/>
                </c:manualLayout>
              </c15:layout>
              <c15:dlblFieldTable/>
              <c15:showDataLabelsRange val="0"/>
            </c:ext>
          </c:extLst>
        </c:dLbl>
      </c:pivotFmt>
      <c:pivotFmt>
        <c:idx val="2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1"/>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5.5555664916885392E-2"/>
              <c:y val="-9.7222222222222224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4320844269466315"/>
                  <c:h val="0.12030110819480898"/>
                </c:manualLayout>
              </c15:layout>
              <c15:dlblFieldTable/>
              <c15:showDataLabelsRange val="0"/>
            </c:ext>
          </c:extLst>
        </c:dLbl>
      </c:pivotFmt>
      <c:pivotFmt>
        <c:idx val="22"/>
        <c:spPr>
          <a:solidFill>
            <a:schemeClr val="accent2"/>
          </a:solidFill>
          <a:ln w="19050">
            <a:solidFill>
              <a:schemeClr val="lt1"/>
            </a:solidFill>
          </a:ln>
          <a:effectLst/>
        </c:spPr>
        <c:dLbl>
          <c:idx val="0"/>
          <c:layout>
            <c:manualLayout>
              <c:x val="8.8888888888888892E-2"/>
              <c:y val="6.0185185185185182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9338E516-84F2-4875-BE3C-4222AE3713EC}"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609733158355206"/>
                  <c:h val="0.12956036745406824"/>
                </c:manualLayout>
              </c15:layout>
              <c15:dlblFieldTable/>
              <c15:showDataLabelsRange val="0"/>
            </c:ext>
          </c:extLst>
        </c:dLbl>
      </c:pivotFmt>
      <c:pivotFmt>
        <c:idx val="23"/>
        <c:spPr>
          <a:solidFill>
            <a:schemeClr val="accent2"/>
          </a:solidFill>
          <a:ln w="19050">
            <a:solidFill>
              <a:schemeClr val="lt1"/>
            </a:solidFill>
          </a:ln>
          <a:effectLst/>
        </c:spPr>
        <c:dLbl>
          <c:idx val="0"/>
          <c:layout>
            <c:manualLayout>
              <c:x val="-7.4999890638670144E-2"/>
              <c:y val="9.25925925925917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604150-8036-4CEE-83E1-BEE3E165FA94}" type="PERCENTAGE">
                  <a:rPr lang="en-US" sz="1800" b="1">
                    <a:solidFill>
                      <a:schemeClr val="accent6">
                        <a:lumMod val="50000"/>
                      </a:schemeClr>
                    </a:solidFill>
                    <a:latin typeface="Bell MT" panose="02020503060305020303" pitchFamily="18" charset="0"/>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2376399825021869"/>
                  <c:h val="0.16196777486147565"/>
                </c:manualLayout>
              </c15:layout>
              <c15:dlblFieldTable/>
              <c15:showDataLabelsRange val="0"/>
            </c:ext>
          </c:extLst>
        </c:dLbl>
      </c:pivotFmt>
      <c:pivotFmt>
        <c:idx val="24"/>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extLst>
        </c:dLbl>
      </c:pivotFmt>
      <c:pivotFmt>
        <c:idx val="25"/>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0.14728552558795621"/>
              <c:y val="-0.10671512838218873"/>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05141687267011"/>
                  <c:h val="0.15705263736657263"/>
                </c:manualLayout>
              </c15:layout>
              <c15:dlblFieldTable/>
              <c15:showDataLabelsRange val="0"/>
            </c:ext>
          </c:extLst>
        </c:dLbl>
      </c:pivotFmt>
      <c:pivotFmt>
        <c:idx val="26"/>
        <c:spPr>
          <a:solidFill>
            <a:schemeClr val="accent2"/>
          </a:solidFill>
          <a:ln w="19050">
            <a:solidFill>
              <a:schemeClr val="lt1"/>
            </a:solidFill>
          </a:ln>
          <a:effectLst/>
        </c:spPr>
        <c:dLbl>
          <c:idx val="0"/>
          <c:layout>
            <c:manualLayout>
              <c:x val="0.13616181704605057"/>
              <c:y val="0.1345020529695341"/>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9338E516-84F2-4875-BE3C-4222AE3713EC}"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8635593347034649"/>
                  <c:h val="0.12956033219522095"/>
                </c:manualLayout>
              </c15:layout>
              <c15:dlblFieldTable/>
              <c15:showDataLabelsRange val="0"/>
            </c:ext>
          </c:extLst>
        </c:dLbl>
      </c:pivotFmt>
      <c:pivotFmt>
        <c:idx val="27"/>
        <c:spPr>
          <a:solidFill>
            <a:schemeClr val="accent2"/>
          </a:solidFill>
          <a:ln w="19050">
            <a:solidFill>
              <a:schemeClr val="lt1"/>
            </a:solidFill>
          </a:ln>
          <a:effectLst/>
        </c:spPr>
        <c:dLbl>
          <c:idx val="0"/>
          <c:layout>
            <c:manualLayout>
              <c:x val="2.9125262682714554E-2"/>
              <c:y val="0.20434121907479105"/>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1D604150-8036-4CEE-83E1-BEE3E165FA94}"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15211011707679"/>
                  <c:h val="0.16196777811981036"/>
                </c:manualLayout>
              </c15:layout>
              <c15:dlblFieldTable/>
              <c15:showDataLabelsRange val="0"/>
            </c:ext>
          </c:extLst>
        </c:dLbl>
      </c:pivotFmt>
      <c:pivotFmt>
        <c:idx val="28"/>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extLst>
        </c:dLbl>
      </c:pivotFmt>
      <c:pivotFmt>
        <c:idx val="29"/>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0.14728552558795621"/>
              <c:y val="-0.10671512838218873"/>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05141687267011"/>
                  <c:h val="0.15705263736657263"/>
                </c:manualLayout>
              </c15:layout>
              <c15:dlblFieldTable/>
              <c15:showDataLabelsRange val="0"/>
            </c:ext>
          </c:extLst>
        </c:dLbl>
      </c:pivotFmt>
      <c:pivotFmt>
        <c:idx val="30"/>
        <c:spPr>
          <a:solidFill>
            <a:schemeClr val="accent2"/>
          </a:solidFill>
          <a:ln w="19050">
            <a:solidFill>
              <a:schemeClr val="lt1"/>
            </a:solidFill>
          </a:ln>
          <a:effectLst/>
        </c:spPr>
        <c:dLbl>
          <c:idx val="0"/>
          <c:layout>
            <c:manualLayout>
              <c:x val="0.13616181704605057"/>
              <c:y val="0.1345020529695341"/>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9338E516-84F2-4875-BE3C-4222AE3713EC}"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8635593347034649"/>
                  <c:h val="0.12956033219522095"/>
                </c:manualLayout>
              </c15:layout>
              <c15:dlblFieldTable/>
              <c15:showDataLabelsRange val="0"/>
            </c:ext>
          </c:extLst>
        </c:dLbl>
      </c:pivotFmt>
      <c:pivotFmt>
        <c:idx val="31"/>
        <c:spPr>
          <a:solidFill>
            <a:schemeClr val="accent2"/>
          </a:solidFill>
          <a:ln w="19050">
            <a:solidFill>
              <a:schemeClr val="lt1"/>
            </a:solidFill>
          </a:ln>
          <a:effectLst/>
        </c:spPr>
        <c:dLbl>
          <c:idx val="0"/>
          <c:layout>
            <c:manualLayout>
              <c:x val="2.9125262682714554E-2"/>
              <c:y val="0.20434121907479105"/>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1D604150-8036-4CEE-83E1-BEE3E165FA94}"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15211011707679"/>
                  <c:h val="0.16196777811981036"/>
                </c:manualLayout>
              </c15:layout>
              <c15:dlblFieldTable/>
              <c15:showDataLabelsRange val="0"/>
            </c:ext>
          </c:extLst>
        </c:dLbl>
      </c:pivotFmt>
      <c:pivotFmt>
        <c:idx val="32"/>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extLst>
        </c:dLbl>
      </c:pivotFmt>
      <c:pivotFmt>
        <c:idx val="33"/>
        <c:spPr>
          <a:solidFill>
            <a:schemeClr val="accent2"/>
          </a:solidFill>
          <a:ln w="19050">
            <a:solidFill>
              <a:schemeClr val="lt1"/>
            </a:solidFill>
          </a:ln>
          <a:effectLst>
            <a:outerShdw blurRad="50800" dist="50800" dir="5400000" sx="1000" sy="1000" algn="ctr" rotWithShape="0">
              <a:srgbClr val="000000">
                <a:alpha val="43137"/>
              </a:srgbClr>
            </a:outerShdw>
          </a:effectLst>
        </c:spPr>
        <c:dLbl>
          <c:idx val="0"/>
          <c:layout>
            <c:manualLayout>
              <c:x val="0.14728552558795621"/>
              <c:y val="-0.10671512838218873"/>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05141687267011"/>
                  <c:h val="0.15705263736657263"/>
                </c:manualLayout>
              </c15:layout>
              <c15:dlblFieldTable/>
              <c15:showDataLabelsRange val="0"/>
            </c:ext>
          </c:extLst>
        </c:dLbl>
      </c:pivotFmt>
      <c:pivotFmt>
        <c:idx val="34"/>
        <c:spPr>
          <a:solidFill>
            <a:schemeClr val="accent2"/>
          </a:solidFill>
          <a:ln w="19050">
            <a:solidFill>
              <a:schemeClr val="lt1"/>
            </a:solidFill>
          </a:ln>
          <a:effectLst/>
        </c:spPr>
        <c:dLbl>
          <c:idx val="0"/>
          <c:layout>
            <c:manualLayout>
              <c:x val="0.13616181704605057"/>
              <c:y val="0.1345020529695341"/>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9338E516-84F2-4875-BE3C-4222AE3713EC}"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8635593347034649"/>
                  <c:h val="0.12956033219522095"/>
                </c:manualLayout>
              </c15:layout>
              <c15:dlblFieldTable/>
              <c15:showDataLabelsRange val="0"/>
            </c:ext>
          </c:extLst>
        </c:dLbl>
      </c:pivotFmt>
      <c:pivotFmt>
        <c:idx val="35"/>
        <c:spPr>
          <a:solidFill>
            <a:schemeClr val="accent2"/>
          </a:solidFill>
          <a:ln w="19050">
            <a:solidFill>
              <a:schemeClr val="lt1"/>
            </a:solidFill>
          </a:ln>
          <a:effectLst/>
        </c:spPr>
        <c:dLbl>
          <c:idx val="0"/>
          <c:layout>
            <c:manualLayout>
              <c:x val="2.9125262682714554E-2"/>
              <c:y val="0.20434121907479105"/>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1D604150-8036-4CEE-83E1-BEE3E165FA94}" type="PERCENTAGE">
                  <a:rPr lang="en-US" sz="2000" b="1">
                    <a:solidFill>
                      <a:schemeClr val="accent6">
                        <a:lumMod val="50000"/>
                      </a:schemeClr>
                    </a:solidFill>
                    <a:latin typeface="Bell MT" panose="02020503060305020303" pitchFamily="18" charset="0"/>
                  </a:rPr>
                  <a:pPr>
                    <a:defRPr sz="20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15211011707679"/>
                  <c:h val="0.16196777811981036"/>
                </c:manualLayout>
              </c15:layout>
              <c15:dlblFieldTable/>
              <c15:showDataLabelsRange val="0"/>
            </c:ext>
          </c:extLst>
        </c:dLbl>
      </c:pivotFmt>
    </c:pivotFmts>
    <c:plotArea>
      <c:layout>
        <c:manualLayout>
          <c:layoutTarget val="inner"/>
          <c:xMode val="edge"/>
          <c:yMode val="edge"/>
          <c:x val="9.8126963861140906E-2"/>
          <c:y val="0.20225708635657605"/>
          <c:w val="0.38612117235345589"/>
          <c:h val="0.64353528725575981"/>
        </c:manualLayout>
      </c:layout>
      <c:doughnutChart>
        <c:varyColors val="1"/>
        <c:ser>
          <c:idx val="0"/>
          <c:order val="0"/>
          <c:tx>
            <c:strRef>
              <c:f>pivots!$G$5</c:f>
              <c:strCache>
                <c:ptCount val="1"/>
                <c:pt idx="0">
                  <c:v>Total</c:v>
                </c:pt>
              </c:strCache>
            </c:strRef>
          </c:tx>
          <c:dPt>
            <c:idx val="0"/>
            <c:bubble3D val="0"/>
            <c:spPr>
              <a:solidFill>
                <a:schemeClr val="accent2"/>
              </a:solidFill>
              <a:ln w="19050">
                <a:solidFill>
                  <a:schemeClr val="lt1"/>
                </a:solidFill>
              </a:ln>
              <a:effectLst>
                <a:outerShdw blurRad="50800" dist="50800" dir="5400000" sx="1000" sy="1000" algn="ctr" rotWithShape="0">
                  <a:srgbClr val="000000">
                    <a:alpha val="43137"/>
                  </a:srgbClr>
                </a:outerShdw>
              </a:effectLst>
            </c:spPr>
            <c:extLst>
              <c:ext xmlns:c16="http://schemas.microsoft.com/office/drawing/2014/chart" uri="{C3380CC4-5D6E-409C-BE32-E72D297353CC}">
                <c16:uniqueId val="{00000001-8D32-41D1-92DF-1911808B3311}"/>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8D32-41D1-92DF-1911808B3311}"/>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8D32-41D1-92DF-1911808B3311}"/>
              </c:ext>
            </c:extLst>
          </c:dPt>
          <c:dLbls>
            <c:dLbl>
              <c:idx val="0"/>
              <c:layout>
                <c:manualLayout>
                  <c:x val="0.14728552558795621"/>
                  <c:y val="-0.10671512838218873"/>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218D5B13-3962-49BE-85B7-EF418117674B}" type="PERCENTAGE">
                      <a:rPr lang="en-US" sz="2000" b="1">
                        <a:solidFill>
                          <a:schemeClr val="accent6">
                            <a:lumMod val="50000"/>
                          </a:schemeClr>
                        </a:solidFill>
                        <a:latin typeface="Bell MT" panose="02020503060305020303" pitchFamily="18" charset="0"/>
                      </a:rPr>
                      <a:pPr>
                        <a:defRPr sz="2000"/>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05141687267011"/>
                      <c:h val="0.15705263736657263"/>
                    </c:manualLayout>
                  </c15:layout>
                  <c15:dlblFieldTable/>
                  <c15:showDataLabelsRange val="0"/>
                </c:ext>
                <c:ext xmlns:c16="http://schemas.microsoft.com/office/drawing/2014/chart" uri="{C3380CC4-5D6E-409C-BE32-E72D297353CC}">
                  <c16:uniqueId val="{00000001-8D32-41D1-92DF-1911808B3311}"/>
                </c:ext>
              </c:extLst>
            </c:dLbl>
            <c:dLbl>
              <c:idx val="1"/>
              <c:layout>
                <c:manualLayout>
                  <c:x val="0.13616181704605057"/>
                  <c:y val="0.1345020529695341"/>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9338E516-84F2-4875-BE3C-4222AE3713EC}" type="PERCENTAGE">
                      <a:rPr lang="en-US" sz="2000" b="1">
                        <a:solidFill>
                          <a:schemeClr val="accent6">
                            <a:lumMod val="50000"/>
                          </a:schemeClr>
                        </a:solidFill>
                        <a:latin typeface="Bell MT" panose="02020503060305020303" pitchFamily="18" charset="0"/>
                      </a:rPr>
                      <a:pPr>
                        <a:defRPr sz="2000"/>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8635593347034649"/>
                      <c:h val="0.12956033219522095"/>
                    </c:manualLayout>
                  </c15:layout>
                  <c15:dlblFieldTable/>
                  <c15:showDataLabelsRange val="0"/>
                </c:ext>
                <c:ext xmlns:c16="http://schemas.microsoft.com/office/drawing/2014/chart" uri="{C3380CC4-5D6E-409C-BE32-E72D297353CC}">
                  <c16:uniqueId val="{00000003-8D32-41D1-92DF-1911808B3311}"/>
                </c:ext>
              </c:extLst>
            </c:dLbl>
            <c:dLbl>
              <c:idx val="2"/>
              <c:layout>
                <c:manualLayout>
                  <c:x val="2.9125262682714554E-2"/>
                  <c:y val="0.20434121907479105"/>
                </c:manualLayout>
              </c:layout>
              <c:tx>
                <c:rich>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fld id="{1D604150-8036-4CEE-83E1-BEE3E165FA94}" type="PERCENTAGE">
                      <a:rPr lang="en-US" sz="2000" b="1">
                        <a:solidFill>
                          <a:schemeClr val="accent6">
                            <a:lumMod val="50000"/>
                          </a:schemeClr>
                        </a:solidFill>
                        <a:latin typeface="Bell MT" panose="02020503060305020303" pitchFamily="18" charset="0"/>
                      </a:rPr>
                      <a:pPr>
                        <a:defRPr sz="2000"/>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extLst>
                <c:ext xmlns:c15="http://schemas.microsoft.com/office/drawing/2012/chart" uri="{CE6537A1-D6FC-4f65-9D91-7224C49458BB}">
                  <c15:layout>
                    <c:manualLayout>
                      <c:w val="0.19915211011707679"/>
                      <c:h val="0.16196777811981036"/>
                    </c:manualLayout>
                  </c15:layout>
                  <c15:dlblFieldTable/>
                  <c15:showDataLabelsRange val="0"/>
                </c:ext>
                <c:ext xmlns:c16="http://schemas.microsoft.com/office/drawing/2014/chart" uri="{C3380CC4-5D6E-409C-BE32-E72D297353CC}">
                  <c16:uniqueId val="{00000005-8D32-41D1-92DF-1911808B3311}"/>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1"/>
            <c:showVal val="0"/>
            <c:showCatName val="0"/>
            <c:showSerName val="0"/>
            <c:showPercent val="1"/>
            <c:showBubbleSize val="0"/>
            <c:showLeaderLines val="1"/>
            <c:leaderLines>
              <c:spPr>
                <a:ln w="31750" cap="flat" cmpd="sng" algn="ctr">
                  <a:solidFill>
                    <a:schemeClr val="accent6">
                      <a:lumMod val="50000"/>
                    </a:schemeClr>
                  </a:solidFill>
                  <a:round/>
                </a:ln>
                <a:effectLst/>
              </c:spPr>
            </c:leaderLines>
            <c:extLst>
              <c:ext xmlns:c15="http://schemas.microsoft.com/office/drawing/2012/chart" uri="{CE6537A1-D6FC-4f65-9D91-7224C49458BB}"/>
            </c:extLst>
          </c:dLbls>
          <c:cat>
            <c:strRef>
              <c:f>pivots!$F$6:$F$9</c:f>
              <c:strCache>
                <c:ptCount val="3"/>
                <c:pt idx="0">
                  <c:v>app</c:v>
                </c:pt>
                <c:pt idx="1">
                  <c:v>dashboard</c:v>
                </c:pt>
                <c:pt idx="2">
                  <c:v>gurucool</c:v>
                </c:pt>
              </c:strCache>
            </c:strRef>
          </c:cat>
          <c:val>
            <c:numRef>
              <c:f>pivots!$G$6:$G$9</c:f>
              <c:numCache>
                <c:formatCode>General</c:formatCode>
                <c:ptCount val="3"/>
                <c:pt idx="0">
                  <c:v>7800</c:v>
                </c:pt>
                <c:pt idx="1">
                  <c:v>2</c:v>
                </c:pt>
                <c:pt idx="2">
                  <c:v>20225</c:v>
                </c:pt>
              </c:numCache>
            </c:numRef>
          </c:val>
          <c:extLst>
            <c:ext xmlns:c16="http://schemas.microsoft.com/office/drawing/2014/chart" uri="{C3380CC4-5D6E-409C-BE32-E72D297353CC}">
              <c16:uniqueId val="{00000006-8D32-41D1-92DF-1911808B3311}"/>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r"/>
      <c:legendEntry>
        <c:idx val="0"/>
        <c:txPr>
          <a:bodyPr rot="0" spcFirstLastPara="1" vertOverflow="ellipsis" vert="horz" wrap="square" anchor="ctr" anchorCtr="1"/>
          <a:lstStyle/>
          <a:p>
            <a:pPr>
              <a:defRPr sz="1800" b="0"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legendEntry>
      <c:legendEntry>
        <c:idx val="1"/>
        <c:txPr>
          <a:bodyPr rot="0" spcFirstLastPara="1" vertOverflow="ellipsis" vert="horz" wrap="square" anchor="ctr" anchorCtr="1"/>
          <a:lstStyle/>
          <a:p>
            <a:pPr>
              <a:defRPr sz="1800" b="0"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legendEntry>
      <c:legendEntry>
        <c:idx val="2"/>
        <c:txPr>
          <a:bodyPr rot="0" spcFirstLastPara="1" vertOverflow="ellipsis" vert="horz" wrap="square" anchor="ctr" anchorCtr="1"/>
          <a:lstStyle/>
          <a:p>
            <a:pPr>
              <a:defRPr sz="1800" b="0"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legendEntry>
      <c:layout>
        <c:manualLayout>
          <c:xMode val="edge"/>
          <c:yMode val="edge"/>
          <c:x val="0.6613912718638757"/>
          <c:y val="0.21213590794932252"/>
          <c:w val="0.2998573084676211"/>
          <c:h val="0.424421400809660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alpha val="98824"/>
      </a:srgbClr>
    </a:solidFill>
    <a:ln w="9525" cap="flat" cmpd="sng" algn="ctr">
      <a:solidFill>
        <a:schemeClr val="tx1">
          <a:lumMod val="15000"/>
          <a:lumOff val="85000"/>
        </a:schemeClr>
      </a:solidFill>
      <a:round/>
    </a:ln>
    <a:effectLst>
      <a:outerShdw blurRad="63500" dist="50800" dir="5400000" sx="76000" sy="76000" algn="ctr" rotWithShape="0">
        <a:srgbClr val="000000">
          <a:alpha val="0"/>
        </a:srgbClr>
      </a:out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[Excel sheet answers.xlsx]pivots!PivotTable3</c:name>
    <c:fmtId val="29"/>
  </c:pivotSource>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b="1">
                <a:solidFill>
                  <a:schemeClr val="accent6">
                    <a:lumMod val="50000"/>
                  </a:schemeClr>
                </a:solidFill>
                <a:latin typeface="Bell MT" panose="02020503060305020303" pitchFamily="18" charset="0"/>
              </a:rPr>
              <a:t>Revenue by Consultation Type</a:t>
            </a:r>
          </a:p>
        </c:rich>
      </c:tx>
      <c:layout>
        <c:manualLayout>
          <c:xMode val="edge"/>
          <c:yMode val="edge"/>
          <c:x val="0.25050525763824621"/>
          <c:y val="3.6179304339356018E-2"/>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32504401227576751"/>
          <c:y val="0.14253730441479059"/>
          <c:w val="0.54444808359620156"/>
          <c:h val="0.64326766496645904"/>
        </c:manualLayout>
      </c:layout>
      <c:barChart>
        <c:barDir val="bar"/>
        <c:grouping val="clustered"/>
        <c:varyColors val="0"/>
        <c:ser>
          <c:idx val="0"/>
          <c:order val="0"/>
          <c:tx>
            <c:strRef>
              <c:f>pivots!$F$29</c:f>
              <c:strCache>
                <c:ptCount val="1"/>
                <c:pt idx="0">
                  <c:v>Total</c:v>
                </c:pt>
              </c:strCache>
            </c:strRef>
          </c:tx>
          <c:spPr>
            <a:solidFill>
              <a:schemeClr val="accent6"/>
            </a:solidFill>
            <a:ln>
              <a:noFill/>
            </a:ln>
            <a:effectLst/>
          </c:spPr>
          <c:invertIfNegative val="0"/>
          <c:cat>
            <c:strRef>
              <c:f>pivots!$E$30:$E$33</c:f>
              <c:strCache>
                <c:ptCount val="3"/>
                <c:pt idx="0">
                  <c:v>Call</c:v>
                </c:pt>
                <c:pt idx="1">
                  <c:v>Chat</c:v>
                </c:pt>
                <c:pt idx="2">
                  <c:v>public_live_Call</c:v>
                </c:pt>
              </c:strCache>
            </c:strRef>
          </c:cat>
          <c:val>
            <c:numRef>
              <c:f>pivots!$F$30:$F$33</c:f>
              <c:numCache>
                <c:formatCode>General</c:formatCode>
                <c:ptCount val="3"/>
                <c:pt idx="0">
                  <c:v>168520.61833333346</c:v>
                </c:pt>
                <c:pt idx="1">
                  <c:v>45494.683333333356</c:v>
                </c:pt>
                <c:pt idx="2">
                  <c:v>50.596999999999902</c:v>
                </c:pt>
              </c:numCache>
            </c:numRef>
          </c:val>
          <c:extLst>
            <c:ext xmlns:c16="http://schemas.microsoft.com/office/drawing/2014/chart" uri="{C3380CC4-5D6E-409C-BE32-E72D297353CC}">
              <c16:uniqueId val="{00000000-C0BB-4E8A-AB2A-9B116F35278A}"/>
            </c:ext>
          </c:extLst>
        </c:ser>
        <c:dLbls>
          <c:showLegendKey val="0"/>
          <c:showVal val="0"/>
          <c:showCatName val="0"/>
          <c:showSerName val="0"/>
          <c:showPercent val="0"/>
          <c:showBubbleSize val="0"/>
        </c:dLbls>
        <c:gapWidth val="182"/>
        <c:axId val="232054111"/>
        <c:axId val="232055071"/>
      </c:barChart>
      <c:catAx>
        <c:axId val="232054111"/>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Consultation</a:t>
                </a:r>
                <a:r>
                  <a:rPr lang="en-US" sz="1400" b="1" baseline="0">
                    <a:latin typeface="Bell MT" panose="02020503060305020303" pitchFamily="18" charset="0"/>
                  </a:rPr>
                  <a:t> Type</a:t>
                </a:r>
                <a:endParaRPr lang="en-US" sz="1400" b="1">
                  <a:latin typeface="Bell MT" panose="02020503060305020303" pitchFamily="18" charset="0"/>
                </a:endParaRPr>
              </a:p>
            </c:rich>
          </c:tx>
          <c:layout>
            <c:manualLayout>
              <c:xMode val="edge"/>
              <c:yMode val="edge"/>
              <c:x val="3.6293278737838067E-2"/>
              <c:y val="0.2738121525111476"/>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232055071"/>
        <c:crosses val="autoZero"/>
        <c:auto val="1"/>
        <c:lblAlgn val="ctr"/>
        <c:lblOffset val="100"/>
        <c:noMultiLvlLbl val="0"/>
      </c:catAx>
      <c:valAx>
        <c:axId val="232055071"/>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Revenue</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2320541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[Excel sheet answers.xlsx]pivots!PivotTable4</c:name>
    <c:fmtId val="16"/>
  </c:pivotSource>
  <c:chart>
    <c:title>
      <c:tx>
        <c:rich>
          <a:bodyPr rot="0" spcFirstLastPara="1" vertOverflow="ellipsis" vert="horz" wrap="square" anchor="ctr" anchorCtr="1"/>
          <a:lstStyle/>
          <a:p>
            <a:pPr>
              <a:defRPr sz="2000" b="1" i="0" u="none" strike="noStrike" kern="1200" spc="0" baseline="0">
                <a:solidFill>
                  <a:schemeClr val="accent6">
                    <a:lumMod val="50000"/>
                  </a:schemeClr>
                </a:solidFill>
                <a:latin typeface="Bell MT" panose="02020503060305020303" pitchFamily="18" charset="0"/>
                <a:ea typeface="+mn-ea"/>
                <a:cs typeface="+mn-cs"/>
              </a:defRPr>
            </a:pPr>
            <a:r>
              <a:rPr lang="en-US" sz="2000" b="1" i="0" u="none" strike="noStrike" baseline="0">
                <a:solidFill>
                  <a:schemeClr val="accent6">
                    <a:lumMod val="50000"/>
                  </a:schemeClr>
                </a:solidFill>
                <a:latin typeface="Bell MT" panose="02020503060305020303" pitchFamily="18" charset="0"/>
              </a:rPr>
              <a:t>Call Distribution Over Hours</a:t>
            </a:r>
            <a:endParaRPr lang="en-US" sz="2000" b="1" i="0" baseline="0">
              <a:solidFill>
                <a:schemeClr val="accent6">
                  <a:lumMod val="50000"/>
                </a:schemeClr>
              </a:solidFill>
              <a:latin typeface="Bell MT" panose="02020503060305020303" pitchFamily="18" charset="0"/>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accent6">
                  <a:lumMod val="50000"/>
                </a:schemeClr>
              </a:solidFill>
              <a:latin typeface="Bell MT" panose="02020503060305020303" pitchFamily="18" charset="0"/>
              <a:ea typeface="+mn-ea"/>
              <a:cs typeface="+mn-cs"/>
            </a:defRPr>
          </a:pPr>
          <a:endParaRPr lang="en-US"/>
        </a:p>
      </c:txPr>
    </c:title>
    <c:autoTitleDeleted val="0"/>
    <c:pivotFmts>
      <c:pivotFmt>
        <c:idx val="0"/>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23980481315299"/>
          <c:y val="0.17315522462314778"/>
          <c:w val="0.8114226892831401"/>
          <c:h val="0.59652272338028045"/>
        </c:manualLayout>
      </c:layout>
      <c:lineChart>
        <c:grouping val="standard"/>
        <c:varyColors val="0"/>
        <c:ser>
          <c:idx val="0"/>
          <c:order val="0"/>
          <c:tx>
            <c:strRef>
              <c:f>pivots!$F$45</c:f>
              <c:strCache>
                <c:ptCount val="1"/>
                <c:pt idx="0">
                  <c:v>Total</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pivots!$E$46:$E$70</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pivots!$F$46:$F$70</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smooth val="0"/>
          <c:extLst>
            <c:ext xmlns:c16="http://schemas.microsoft.com/office/drawing/2014/chart" uri="{C3380CC4-5D6E-409C-BE32-E72D297353CC}">
              <c16:uniqueId val="{00000000-C1D1-43B7-BA4B-C93B1335C25C}"/>
            </c:ext>
          </c:extLst>
        </c:ser>
        <c:dLbls>
          <c:showLegendKey val="0"/>
          <c:showVal val="0"/>
          <c:showCatName val="0"/>
          <c:showSerName val="0"/>
          <c:showPercent val="0"/>
          <c:showBubbleSize val="0"/>
        </c:dLbls>
        <c:marker val="1"/>
        <c:smooth val="0"/>
        <c:axId val="1558995279"/>
        <c:axId val="1558993359"/>
      </c:lineChart>
      <c:catAx>
        <c:axId val="1558995279"/>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Hours</a:t>
                </a:r>
                <a:r>
                  <a:rPr lang="en-US" sz="1400" b="1" baseline="0">
                    <a:latin typeface="Bell MT" panose="02020503060305020303" pitchFamily="18" charset="0"/>
                  </a:rPr>
                  <a:t> of Day</a:t>
                </a:r>
                <a:endParaRPr lang="en-US" sz="1400" b="1">
                  <a:latin typeface="Bell MT" panose="02020503060305020303" pitchFamily="18" charset="0"/>
                </a:endParaRPr>
              </a:p>
            </c:rich>
          </c:tx>
          <c:layout>
            <c:manualLayout>
              <c:xMode val="edge"/>
              <c:yMode val="edge"/>
              <c:x val="0.43481926211455901"/>
              <c:y val="0.88605088278883148"/>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558993359"/>
        <c:crosses val="autoZero"/>
        <c:auto val="1"/>
        <c:lblAlgn val="ctr"/>
        <c:lblOffset val="100"/>
        <c:noMultiLvlLbl val="0"/>
      </c:catAx>
      <c:valAx>
        <c:axId val="1558993359"/>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Consultation</a:t>
                </a:r>
                <a:r>
                  <a:rPr lang="en-US" sz="1400" b="1" baseline="0">
                    <a:latin typeface="Bell MT" panose="02020503060305020303" pitchFamily="18" charset="0"/>
                  </a:rPr>
                  <a:t> Count (Call)</a:t>
                </a:r>
                <a:endParaRPr lang="en-US" sz="1400" b="1">
                  <a:latin typeface="Bell MT" panose="02020503060305020303" pitchFamily="18" charset="0"/>
                </a:endParaRPr>
              </a:p>
            </c:rich>
          </c:tx>
          <c:layout>
            <c:manualLayout>
              <c:xMode val="edge"/>
              <c:yMode val="edge"/>
              <c:x val="1.5334490354536259E-2"/>
              <c:y val="0.1041774463304003"/>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5589952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[Excel sheet answers.xlsx]pivots!PivotTable5</c:name>
    <c:fmtId val="18"/>
  </c:pivotSource>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Bell MT" panose="02020503060305020303" pitchFamily="18" charset="0"/>
                <a:ea typeface="+mn-ea"/>
                <a:cs typeface="+mn-cs"/>
              </a:defRPr>
            </a:pPr>
            <a:r>
              <a:rPr lang="en-US" sz="2000" b="1" i="0" u="none" strike="noStrike" baseline="0">
                <a:solidFill>
                  <a:schemeClr val="accent6">
                    <a:lumMod val="50000"/>
                  </a:schemeClr>
                </a:solidFill>
                <a:latin typeface="Bell MT" panose="02020503060305020303" pitchFamily="18" charset="0"/>
              </a:rPr>
              <a:t>Day-by-Day Call Volume</a:t>
            </a:r>
            <a:endParaRPr lang="en-US" sz="2000" b="1" i="0" baseline="0">
              <a:solidFill>
                <a:schemeClr val="accent6">
                  <a:lumMod val="50000"/>
                </a:schemeClr>
              </a:solidFill>
              <a:latin typeface="Bell MT" panose="02020503060305020303" pitchFamily="18" charset="0"/>
            </a:endParaRPr>
          </a:p>
        </c:rich>
      </c:tx>
      <c:layout>
        <c:manualLayout>
          <c:xMode val="edge"/>
          <c:yMode val="edge"/>
          <c:x val="0.21785135016180329"/>
          <c:y val="6.997394853791393E-2"/>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Bell MT" panose="02020503060305020303" pitchFamily="18" charset="0"/>
              <a:ea typeface="+mn-ea"/>
              <a:cs typeface="+mn-cs"/>
            </a:defRPr>
          </a:pPr>
          <a:endParaRPr lang="en-US"/>
        </a:p>
      </c:txPr>
    </c:title>
    <c:autoTitleDeleted val="0"/>
    <c:pivotFmts>
      <c:pivotFmt>
        <c:idx val="0"/>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w="28575" cap="rnd">
            <a:solidFill>
              <a:schemeClr val="accent6"/>
            </a:solidFill>
            <a:round/>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641355399819241"/>
          <c:y val="0.22405406723227594"/>
          <c:w val="0.80314755952904915"/>
          <c:h val="0.34131803680639722"/>
        </c:manualLayout>
      </c:layout>
      <c:lineChart>
        <c:grouping val="standard"/>
        <c:varyColors val="0"/>
        <c:ser>
          <c:idx val="0"/>
          <c:order val="0"/>
          <c:tx>
            <c:strRef>
              <c:f>pivots!$F$72</c:f>
              <c:strCache>
                <c:ptCount val="1"/>
                <c:pt idx="0">
                  <c:v>Total</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pivots!$E$73:$E$107</c:f>
              <c:strCache>
                <c:ptCount val="34"/>
                <c:pt idx="0">
                  <c:v>01-12-2023</c:v>
                </c:pt>
                <c:pt idx="1">
                  <c:v>02-12-2023</c:v>
                </c:pt>
                <c:pt idx="2">
                  <c:v>03-12-2023</c:v>
                </c:pt>
                <c:pt idx="3">
                  <c:v>04-12-2023</c:v>
                </c:pt>
                <c:pt idx="4">
                  <c:v>05-12-2023</c:v>
                </c:pt>
                <c:pt idx="5">
                  <c:v>06-12-2023</c:v>
                </c:pt>
                <c:pt idx="6">
                  <c:v>07-12-2023</c:v>
                </c:pt>
                <c:pt idx="7">
                  <c:v>08-12-2023</c:v>
                </c:pt>
                <c:pt idx="8">
                  <c:v>09-12-2023</c:v>
                </c:pt>
                <c:pt idx="9">
                  <c:v>10-12-2023</c:v>
                </c:pt>
                <c:pt idx="10">
                  <c:v>11-12-2023</c:v>
                </c:pt>
                <c:pt idx="11">
                  <c:v>12-12-2023</c:v>
                </c:pt>
                <c:pt idx="12">
                  <c:v>13-12-2023</c:v>
                </c:pt>
                <c:pt idx="13">
                  <c:v>14-12-2023</c:v>
                </c:pt>
                <c:pt idx="14">
                  <c:v>15-12-2023</c:v>
                </c:pt>
                <c:pt idx="15">
                  <c:v>16-12-2023</c:v>
                </c:pt>
                <c:pt idx="16">
                  <c:v>17-12-2023</c:v>
                </c:pt>
                <c:pt idx="17">
                  <c:v>18-12-2023</c:v>
                </c:pt>
                <c:pt idx="18">
                  <c:v>19-12-2023</c:v>
                </c:pt>
                <c:pt idx="19">
                  <c:v>20-12-2023</c:v>
                </c:pt>
                <c:pt idx="20">
                  <c:v>21-12-2023</c:v>
                </c:pt>
                <c:pt idx="21">
                  <c:v>22-12-2023</c:v>
                </c:pt>
                <c:pt idx="22">
                  <c:v>23-12-2023</c:v>
                </c:pt>
                <c:pt idx="23">
                  <c:v>24-12-2023</c:v>
                </c:pt>
                <c:pt idx="24">
                  <c:v>25-12-2023</c:v>
                </c:pt>
                <c:pt idx="25">
                  <c:v>26-12-2023</c:v>
                </c:pt>
                <c:pt idx="26">
                  <c:v>27-12-2023</c:v>
                </c:pt>
                <c:pt idx="27">
                  <c:v>28-12-2023</c:v>
                </c:pt>
                <c:pt idx="28">
                  <c:v>29-12-2023</c:v>
                </c:pt>
                <c:pt idx="29">
                  <c:v>30-12-2023</c:v>
                </c:pt>
                <c:pt idx="30">
                  <c:v>31-12-2023</c:v>
                </c:pt>
                <c:pt idx="31">
                  <c:v>01-01-2024</c:v>
                </c:pt>
                <c:pt idx="32">
                  <c:v>02-01-2024</c:v>
                </c:pt>
                <c:pt idx="33">
                  <c:v>03-01-2024</c:v>
                </c:pt>
              </c:strCache>
            </c:strRef>
          </c:cat>
          <c:val>
            <c:numRef>
              <c:f>pivots!$F$73:$F$107</c:f>
              <c:numCache>
                <c:formatCode>General</c:formatCode>
                <c:ptCount val="34"/>
                <c:pt idx="0">
                  <c:v>1056</c:v>
                </c:pt>
                <c:pt idx="1">
                  <c:v>1006</c:v>
                </c:pt>
                <c:pt idx="2">
                  <c:v>994</c:v>
                </c:pt>
                <c:pt idx="3">
                  <c:v>931</c:v>
                </c:pt>
                <c:pt idx="4">
                  <c:v>715</c:v>
                </c:pt>
                <c:pt idx="5">
                  <c:v>523</c:v>
                </c:pt>
                <c:pt idx="6">
                  <c:v>531</c:v>
                </c:pt>
                <c:pt idx="7">
                  <c:v>338</c:v>
                </c:pt>
                <c:pt idx="8">
                  <c:v>438</c:v>
                </c:pt>
                <c:pt idx="9">
                  <c:v>594</c:v>
                </c:pt>
                <c:pt idx="10">
                  <c:v>582</c:v>
                </c:pt>
                <c:pt idx="11">
                  <c:v>555</c:v>
                </c:pt>
                <c:pt idx="12">
                  <c:v>619</c:v>
                </c:pt>
                <c:pt idx="13">
                  <c:v>917</c:v>
                </c:pt>
                <c:pt idx="14">
                  <c:v>1324</c:v>
                </c:pt>
                <c:pt idx="15">
                  <c:v>952</c:v>
                </c:pt>
                <c:pt idx="16">
                  <c:v>929</c:v>
                </c:pt>
                <c:pt idx="17">
                  <c:v>1074</c:v>
                </c:pt>
                <c:pt idx="18">
                  <c:v>1046</c:v>
                </c:pt>
                <c:pt idx="19">
                  <c:v>855</c:v>
                </c:pt>
                <c:pt idx="20">
                  <c:v>816</c:v>
                </c:pt>
                <c:pt idx="21">
                  <c:v>775</c:v>
                </c:pt>
                <c:pt idx="22">
                  <c:v>1059</c:v>
                </c:pt>
                <c:pt idx="23">
                  <c:v>1061</c:v>
                </c:pt>
                <c:pt idx="24">
                  <c:v>1098</c:v>
                </c:pt>
                <c:pt idx="25">
                  <c:v>808</c:v>
                </c:pt>
                <c:pt idx="26">
                  <c:v>1001</c:v>
                </c:pt>
                <c:pt idx="27">
                  <c:v>1077</c:v>
                </c:pt>
                <c:pt idx="28">
                  <c:v>1022</c:v>
                </c:pt>
                <c:pt idx="29">
                  <c:v>778</c:v>
                </c:pt>
                <c:pt idx="30">
                  <c:v>1014</c:v>
                </c:pt>
                <c:pt idx="31">
                  <c:v>325</c:v>
                </c:pt>
                <c:pt idx="32">
                  <c:v>845</c:v>
                </c:pt>
                <c:pt idx="33">
                  <c:v>369</c:v>
                </c:pt>
              </c:numCache>
            </c:numRef>
          </c:val>
          <c:smooth val="0"/>
          <c:extLst>
            <c:ext xmlns:c16="http://schemas.microsoft.com/office/drawing/2014/chart" uri="{C3380CC4-5D6E-409C-BE32-E72D297353CC}">
              <c16:uniqueId val="{00000000-0755-4402-B0AF-7206314DD2ED}"/>
            </c:ext>
          </c:extLst>
        </c:ser>
        <c:dLbls>
          <c:showLegendKey val="0"/>
          <c:showVal val="0"/>
          <c:showCatName val="0"/>
          <c:showSerName val="0"/>
          <c:showPercent val="0"/>
          <c:showBubbleSize val="0"/>
        </c:dLbls>
        <c:marker val="1"/>
        <c:smooth val="0"/>
        <c:axId val="1481272271"/>
        <c:axId val="1606707440"/>
      </c:lineChart>
      <c:catAx>
        <c:axId val="1481272271"/>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Day</a:t>
                </a:r>
                <a:r>
                  <a:rPr lang="en-US" sz="1400" b="1" baseline="0">
                    <a:latin typeface="Bell MT" panose="02020503060305020303" pitchFamily="18" charset="0"/>
                  </a:rPr>
                  <a:t> by Day</a:t>
                </a:r>
                <a:endParaRPr lang="en-US" sz="1400" b="1">
                  <a:latin typeface="Bell MT" panose="02020503060305020303" pitchFamily="18" charset="0"/>
                </a:endParaRPr>
              </a:p>
            </c:rich>
          </c:tx>
          <c:layout>
            <c:manualLayout>
              <c:xMode val="edge"/>
              <c:yMode val="edge"/>
              <c:x val="0.41893320527357525"/>
              <c:y val="0.86007474122678707"/>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606707440"/>
        <c:crosses val="autoZero"/>
        <c:auto val="1"/>
        <c:lblAlgn val="ctr"/>
        <c:lblOffset val="100"/>
        <c:noMultiLvlLbl val="0"/>
      </c:catAx>
      <c:valAx>
        <c:axId val="1606707440"/>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Consultation Volume (Call) </a:t>
                </a:r>
              </a:p>
            </c:rich>
          </c:tx>
          <c:layout>
            <c:manualLayout>
              <c:xMode val="edge"/>
              <c:yMode val="edge"/>
              <c:x val="1.6603028985140943E-2"/>
              <c:y val="0.17880497624719632"/>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4812722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[Excel sheet answers.xlsx]pivots!PivotTable8</c:name>
    <c:fmtId val="17"/>
  </c:pivotSource>
  <c:chart>
    <c:title>
      <c:tx>
        <c:rich>
          <a:bodyPr rot="0" spcFirstLastPara="1" vertOverflow="ellipsis" vert="horz" wrap="square" anchor="ctr" anchorCtr="1"/>
          <a:lstStyle/>
          <a:p>
            <a:pPr>
              <a:defRPr sz="2000" b="1" i="0" u="none" strike="noStrike" kern="1200" baseline="0">
                <a:solidFill>
                  <a:schemeClr val="accent6">
                    <a:lumMod val="50000"/>
                  </a:schemeClr>
                </a:solidFill>
                <a:latin typeface="Bell MT" panose="02020503060305020303" pitchFamily="18" charset="0"/>
                <a:ea typeface="+mn-ea"/>
                <a:cs typeface="+mn-cs"/>
              </a:defRPr>
            </a:pPr>
            <a:r>
              <a:rPr lang="en-US" sz="2000" b="1" i="0" u="none" strike="noStrike" baseline="0">
                <a:solidFill>
                  <a:schemeClr val="accent6">
                    <a:lumMod val="50000"/>
                  </a:schemeClr>
                </a:solidFill>
                <a:latin typeface="Bell MT" panose="02020503060305020303" pitchFamily="18" charset="0"/>
              </a:rPr>
              <a:t>Rating-wise User Distribution</a:t>
            </a:r>
            <a:endParaRPr lang="en-US" sz="2000" baseline="0">
              <a:solidFill>
                <a:schemeClr val="accent6">
                  <a:lumMod val="50000"/>
                </a:schemeClr>
              </a:solidFill>
              <a:latin typeface="Bell MT" panose="02020503060305020303" pitchFamily="18" charset="0"/>
            </a:endParaRPr>
          </a:p>
        </c:rich>
      </c:tx>
      <c:layout>
        <c:manualLayout>
          <c:xMode val="edge"/>
          <c:yMode val="edge"/>
          <c:x val="0.14433726899260912"/>
          <c:y val="5.6745122175162574E-2"/>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accent6">
                  <a:lumMod val="50000"/>
                </a:schemeClr>
              </a:solidFill>
              <a:latin typeface="Bell MT" panose="02020503060305020303" pitchFamily="18" charset="0"/>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450609702806251"/>
          <c:y val="0.21559175226096342"/>
          <c:w val="0.8049384739481702"/>
          <c:h val="0.56339427945795895"/>
        </c:manualLayout>
      </c:layout>
      <c:barChart>
        <c:barDir val="col"/>
        <c:grouping val="clustered"/>
        <c:varyColors val="0"/>
        <c:ser>
          <c:idx val="0"/>
          <c:order val="0"/>
          <c:tx>
            <c:strRef>
              <c:f>pivots!$L$3</c:f>
              <c:strCache>
                <c:ptCount val="1"/>
                <c:pt idx="0">
                  <c:v>Total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pivots!$K$4:$K$13</c:f>
              <c:strCache>
                <c:ptCount val="9"/>
                <c:pt idx="0">
                  <c:v>0</c:v>
                </c:pt>
                <c:pt idx="1">
                  <c:v>1</c:v>
                </c:pt>
                <c:pt idx="2">
                  <c:v>2</c:v>
                </c:pt>
                <c:pt idx="3">
                  <c:v>3</c:v>
                </c:pt>
                <c:pt idx="4">
                  <c:v>4</c:v>
                </c:pt>
                <c:pt idx="5">
                  <c:v>5</c:v>
                </c:pt>
                <c:pt idx="6">
                  <c:v>6</c:v>
                </c:pt>
                <c:pt idx="7">
                  <c:v>7</c:v>
                </c:pt>
                <c:pt idx="8">
                  <c:v>8</c:v>
                </c:pt>
              </c:strCache>
            </c:strRef>
          </c:cat>
          <c:val>
            <c:numRef>
              <c:f>pivots!$L$4:$L$13</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7A64-47C1-A747-1119B5D3E230}"/>
            </c:ext>
          </c:extLst>
        </c:ser>
        <c:dLbls>
          <c:showLegendKey val="0"/>
          <c:showVal val="0"/>
          <c:showCatName val="0"/>
          <c:showSerName val="0"/>
          <c:showPercent val="0"/>
          <c:showBubbleSize val="0"/>
        </c:dLbls>
        <c:gapWidth val="100"/>
        <c:overlap val="-24"/>
        <c:axId val="1671820847"/>
        <c:axId val="1671821327"/>
      </c:barChart>
      <c:catAx>
        <c:axId val="1671820847"/>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Rating</a:t>
                </a:r>
                <a:r>
                  <a:rPr lang="en-US" sz="1400" b="1" baseline="0">
                    <a:latin typeface="Bell MT" panose="02020503060305020303" pitchFamily="18" charset="0"/>
                  </a:rPr>
                  <a:t> </a:t>
                </a:r>
                <a:endParaRPr lang="en-US" sz="1400" b="1">
                  <a:latin typeface="Bell MT" panose="02020503060305020303" pitchFamily="18" charset="0"/>
                </a:endParaRP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671821327"/>
        <c:crosses val="autoZero"/>
        <c:auto val="1"/>
        <c:lblAlgn val="ctr"/>
        <c:lblOffset val="100"/>
        <c:noMultiLvlLbl val="0"/>
      </c:catAx>
      <c:valAx>
        <c:axId val="1671821327"/>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latin typeface="Bell MT" panose="02020503060305020303" pitchFamily="18" charset="0"/>
                  </a:rPr>
                  <a:t>User</a:t>
                </a:r>
                <a:r>
                  <a:rPr lang="en-US" sz="1400" b="1" baseline="0">
                    <a:latin typeface="Bell MT" panose="02020503060305020303" pitchFamily="18" charset="0"/>
                  </a:rPr>
                  <a:t> Count</a:t>
                </a:r>
                <a:endParaRPr lang="en-US" sz="1400" b="1">
                  <a:latin typeface="Bell MT" panose="02020503060305020303" pitchFamily="18" charset="0"/>
                </a:endParaRPr>
              </a:p>
            </c:rich>
          </c:tx>
          <c:layout>
            <c:manualLayout>
              <c:xMode val="edge"/>
              <c:yMode val="edge"/>
              <c:x val="9.1170451977117921E-3"/>
              <c:y val="0.33404981565506925"/>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6718208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[Excel sheet answers.xlsx]pivots!PivotTable9</c:name>
    <c:fmtId val="15"/>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Bell MT" panose="02020503060305020303" pitchFamily="18" charset="0"/>
                <a:ea typeface="+mn-ea"/>
                <a:cs typeface="+mn-cs"/>
              </a:defRPr>
            </a:pPr>
            <a:r>
              <a:rPr lang="en-US" sz="2000" b="1" i="0" u="none" strike="noStrike" baseline="0">
                <a:solidFill>
                  <a:schemeClr val="accent6">
                    <a:lumMod val="50000"/>
                  </a:schemeClr>
                </a:solidFill>
              </a:rPr>
              <a:t>Rating-wise Guru Distribution</a:t>
            </a:r>
            <a:endParaRPr lang="en-US" sz="2000">
              <a:solidFill>
                <a:schemeClr val="accent6">
                  <a:lumMod val="50000"/>
                </a:schemeClr>
              </a:solidFill>
            </a:endParaRPr>
          </a:p>
        </c:rich>
      </c:tx>
      <c:layout>
        <c:manualLayout>
          <c:xMode val="edge"/>
          <c:yMode val="edge"/>
          <c:x val="0.18576465941534567"/>
          <c:y val="4.4111216975388091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Bell MT" panose="020205030603050203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527359398543774"/>
          <c:y val="0.17614265900751724"/>
          <c:w val="0.81907256477902191"/>
          <c:h val="0.62856270612338794"/>
        </c:manualLayout>
      </c:layout>
      <c:barChart>
        <c:barDir val="col"/>
        <c:grouping val="clustered"/>
        <c:varyColors val="0"/>
        <c:ser>
          <c:idx val="0"/>
          <c:order val="0"/>
          <c:tx>
            <c:strRef>
              <c:f>pivots!$N$23</c:f>
              <c:strCache>
                <c:ptCount val="1"/>
                <c:pt idx="0">
                  <c:v>Total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pivots!$M$24:$M$33</c:f>
              <c:strCache>
                <c:ptCount val="9"/>
                <c:pt idx="0">
                  <c:v>0</c:v>
                </c:pt>
                <c:pt idx="1">
                  <c:v>1</c:v>
                </c:pt>
                <c:pt idx="2">
                  <c:v>2</c:v>
                </c:pt>
                <c:pt idx="3">
                  <c:v>3</c:v>
                </c:pt>
                <c:pt idx="4">
                  <c:v>4</c:v>
                </c:pt>
                <c:pt idx="5">
                  <c:v>5</c:v>
                </c:pt>
                <c:pt idx="6">
                  <c:v>6</c:v>
                </c:pt>
                <c:pt idx="7">
                  <c:v>7</c:v>
                </c:pt>
                <c:pt idx="8">
                  <c:v>8</c:v>
                </c:pt>
              </c:strCache>
            </c:strRef>
          </c:cat>
          <c:val>
            <c:numRef>
              <c:f>pivots!$N$24:$N$33</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B8C6-4294-A971-143334F66341}"/>
            </c:ext>
          </c:extLst>
        </c:ser>
        <c:dLbls>
          <c:showLegendKey val="0"/>
          <c:showVal val="0"/>
          <c:showCatName val="0"/>
          <c:showSerName val="0"/>
          <c:showPercent val="0"/>
          <c:showBubbleSize val="0"/>
        </c:dLbls>
        <c:gapWidth val="100"/>
        <c:overlap val="-24"/>
        <c:axId val="1622247824"/>
        <c:axId val="1622249744"/>
      </c:barChart>
      <c:catAx>
        <c:axId val="1622247824"/>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t>Rating</a:t>
                </a:r>
                <a:r>
                  <a:rPr lang="en-US" sz="1400" b="1" baseline="0"/>
                  <a:t> </a:t>
                </a:r>
                <a:endParaRPr lang="en-US" sz="1400" b="1"/>
              </a:p>
            </c:rich>
          </c:tx>
          <c:layout>
            <c:manualLayout>
              <c:xMode val="edge"/>
              <c:yMode val="edge"/>
              <c:x val="0.47652228886931053"/>
              <c:y val="0.89287036571720446"/>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622249744"/>
        <c:crosses val="autoZero"/>
        <c:auto val="1"/>
        <c:lblAlgn val="ctr"/>
        <c:lblOffset val="100"/>
        <c:noMultiLvlLbl val="0"/>
      </c:catAx>
      <c:valAx>
        <c:axId val="1622249744"/>
        <c:scaling>
          <c:orientation val="minMax"/>
        </c:scaling>
        <c:delete val="0"/>
        <c:axPos val="l"/>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r>
                  <a:rPr lang="en-US" sz="1400" b="1"/>
                  <a:t>Count</a:t>
                </a:r>
                <a:r>
                  <a:rPr lang="en-US" sz="1400" b="1" baseline="0"/>
                  <a:t> of Guru's</a:t>
                </a:r>
                <a:endParaRPr lang="en-US" sz="1400" b="1"/>
              </a:p>
            </c:rich>
          </c:tx>
          <c:layout>
            <c:manualLayout>
              <c:xMode val="edge"/>
              <c:yMode val="edge"/>
              <c:x val="2.6273889762719296E-2"/>
              <c:y val="0.25696411302495425"/>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Bell MT" panose="02020503060305020303" pitchFamily="18" charset="0"/>
                <a:ea typeface="+mn-ea"/>
                <a:cs typeface="+mn-cs"/>
              </a:defRPr>
            </a:pPr>
            <a:endParaRPr lang="en-US"/>
          </a:p>
        </c:txPr>
        <c:crossAx val="1622247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Bell MT" panose="02020503060305020303"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 id="19">
  <a:schemeClr val="accent6"/>
</cs:colorStyle>
</file>

<file path=ppt/charts/colors6.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6C91CC-3106-4C37-8F6E-EE34CD7080A7}"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D36F03-3272-43F5-B14F-EE0A0CD1D5B5}" type="slidenum">
              <a:rPr lang="en-US" smtClean="0"/>
              <a:t>‹#›</a:t>
            </a:fld>
            <a:endParaRPr lang="en-US"/>
          </a:p>
        </p:txBody>
      </p:sp>
    </p:spTree>
    <p:extLst>
      <p:ext uri="{BB962C8B-B14F-4D97-AF65-F5344CB8AC3E}">
        <p14:creationId xmlns:p14="http://schemas.microsoft.com/office/powerpoint/2010/main" val="281002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17312-0D24-C7C9-7E62-DC01AE67D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2A331-4F54-05B9-2D53-CBF37284DFFC}"/>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4DF520BD-2915-AFA1-AFEE-1112AFBC87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144B38-EC51-9720-9AD0-A186B57CEB06}"/>
              </a:ext>
            </a:extLst>
          </p:cNvPr>
          <p:cNvSpPr>
            <a:spLocks noGrp="1"/>
          </p:cNvSpPr>
          <p:nvPr>
            <p:ph type="sldNum" sz="quarter" idx="5"/>
          </p:nvPr>
        </p:nvSpPr>
        <p:spPr/>
        <p:txBody>
          <a:bodyPr/>
          <a:lstStyle/>
          <a:p>
            <a:fld id="{7ED36F03-3272-43F5-B14F-EE0A0CD1D5B5}" type="slidenum">
              <a:rPr lang="en-US" smtClean="0"/>
              <a:t>5</a:t>
            </a:fld>
            <a:endParaRPr lang="en-US"/>
          </a:p>
        </p:txBody>
      </p:sp>
    </p:spTree>
    <p:extLst>
      <p:ext uri="{BB962C8B-B14F-4D97-AF65-F5344CB8AC3E}">
        <p14:creationId xmlns:p14="http://schemas.microsoft.com/office/powerpoint/2010/main" val="3088156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D938-BE2A-D38F-7310-2CC383144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61C4B-2065-345C-7314-D40F57196269}"/>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8C679C44-50CA-295E-C3B2-6BC085BDA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0BD03F-95B7-CF7B-63D2-821542EB14CD}"/>
              </a:ext>
            </a:extLst>
          </p:cNvPr>
          <p:cNvSpPr>
            <a:spLocks noGrp="1"/>
          </p:cNvSpPr>
          <p:nvPr>
            <p:ph type="sldNum" sz="quarter" idx="5"/>
          </p:nvPr>
        </p:nvSpPr>
        <p:spPr/>
        <p:txBody>
          <a:bodyPr/>
          <a:lstStyle/>
          <a:p>
            <a:fld id="{7ED36F03-3272-43F5-B14F-EE0A0CD1D5B5}" type="slidenum">
              <a:rPr lang="en-US" smtClean="0"/>
              <a:t>6</a:t>
            </a:fld>
            <a:endParaRPr lang="en-US"/>
          </a:p>
        </p:txBody>
      </p:sp>
    </p:spTree>
    <p:extLst>
      <p:ext uri="{BB962C8B-B14F-4D97-AF65-F5344CB8AC3E}">
        <p14:creationId xmlns:p14="http://schemas.microsoft.com/office/powerpoint/2010/main" val="2606200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13293-D244-648E-26FA-2E10BBCDA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9E081-003D-8FB4-E81D-B1C15B1C1DA2}"/>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1FC5260A-0B40-7A31-365C-1EC82A6B6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AD67B3-5BCB-8D12-557E-C7D9A550DB41}"/>
              </a:ext>
            </a:extLst>
          </p:cNvPr>
          <p:cNvSpPr>
            <a:spLocks noGrp="1"/>
          </p:cNvSpPr>
          <p:nvPr>
            <p:ph type="sldNum" sz="quarter" idx="5"/>
          </p:nvPr>
        </p:nvSpPr>
        <p:spPr/>
        <p:txBody>
          <a:bodyPr/>
          <a:lstStyle/>
          <a:p>
            <a:fld id="{7ED36F03-3272-43F5-B14F-EE0A0CD1D5B5}" type="slidenum">
              <a:rPr lang="en-US" smtClean="0"/>
              <a:t>7</a:t>
            </a:fld>
            <a:endParaRPr lang="en-US"/>
          </a:p>
        </p:txBody>
      </p:sp>
    </p:spTree>
    <p:extLst>
      <p:ext uri="{BB962C8B-B14F-4D97-AF65-F5344CB8AC3E}">
        <p14:creationId xmlns:p14="http://schemas.microsoft.com/office/powerpoint/2010/main" val="4069240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D36F03-3272-43F5-B14F-EE0A0CD1D5B5}" type="slidenum">
              <a:rPr lang="en-US" smtClean="0"/>
              <a:t>8</a:t>
            </a:fld>
            <a:endParaRPr lang="en-US"/>
          </a:p>
        </p:txBody>
      </p:sp>
    </p:spTree>
    <p:extLst>
      <p:ext uri="{BB962C8B-B14F-4D97-AF65-F5344CB8AC3E}">
        <p14:creationId xmlns:p14="http://schemas.microsoft.com/office/powerpoint/2010/main" val="1090041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C03E-7F05-12DA-26B3-FD49F9F9A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119CC-738B-295A-0B5B-DBB487B34752}"/>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2C13AE3-1A1E-06AC-5E26-6487F12B3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D863A1-C828-F5E4-2279-FADB8E578ACE}"/>
              </a:ext>
            </a:extLst>
          </p:cNvPr>
          <p:cNvSpPr>
            <a:spLocks noGrp="1"/>
          </p:cNvSpPr>
          <p:nvPr>
            <p:ph type="sldNum" sz="quarter" idx="5"/>
          </p:nvPr>
        </p:nvSpPr>
        <p:spPr/>
        <p:txBody>
          <a:bodyPr/>
          <a:lstStyle/>
          <a:p>
            <a:fld id="{7ED36F03-3272-43F5-B14F-EE0A0CD1D5B5}" type="slidenum">
              <a:rPr lang="en-US" smtClean="0"/>
              <a:t>9</a:t>
            </a:fld>
            <a:endParaRPr lang="en-US"/>
          </a:p>
        </p:txBody>
      </p:sp>
    </p:spTree>
    <p:extLst>
      <p:ext uri="{BB962C8B-B14F-4D97-AF65-F5344CB8AC3E}">
        <p14:creationId xmlns:p14="http://schemas.microsoft.com/office/powerpoint/2010/main" val="2532047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2CC61-C0EA-08A0-7BE5-3F6C8745F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34EDD-A7E4-6C91-849D-FC159DEA1812}"/>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9DCAC7D7-11D1-4F25-6A3F-12AD5E2DBA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FA3ACB-BFDF-F3E0-8605-F4B56E6829A5}"/>
              </a:ext>
            </a:extLst>
          </p:cNvPr>
          <p:cNvSpPr>
            <a:spLocks noGrp="1"/>
          </p:cNvSpPr>
          <p:nvPr>
            <p:ph type="sldNum" sz="quarter" idx="5"/>
          </p:nvPr>
        </p:nvSpPr>
        <p:spPr/>
        <p:txBody>
          <a:bodyPr/>
          <a:lstStyle/>
          <a:p>
            <a:fld id="{7ED36F03-3272-43F5-B14F-EE0A0CD1D5B5}" type="slidenum">
              <a:rPr lang="en-US" smtClean="0"/>
              <a:t>10</a:t>
            </a:fld>
            <a:endParaRPr lang="en-US"/>
          </a:p>
        </p:txBody>
      </p:sp>
    </p:spTree>
    <p:extLst>
      <p:ext uri="{BB962C8B-B14F-4D97-AF65-F5344CB8AC3E}">
        <p14:creationId xmlns:p14="http://schemas.microsoft.com/office/powerpoint/2010/main" val="1717702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F6F6-2A0A-204A-53D0-F753D92AE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DD5DD-B260-DF1A-89DB-1F527D092CFE}"/>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A0AC3676-8A64-94CF-5E6D-260AC6C158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70A494-553B-3BD4-FADE-56D73560FAE1}"/>
              </a:ext>
            </a:extLst>
          </p:cNvPr>
          <p:cNvSpPr>
            <a:spLocks noGrp="1"/>
          </p:cNvSpPr>
          <p:nvPr>
            <p:ph type="sldNum" sz="quarter" idx="5"/>
          </p:nvPr>
        </p:nvSpPr>
        <p:spPr/>
        <p:txBody>
          <a:bodyPr/>
          <a:lstStyle/>
          <a:p>
            <a:fld id="{7ED36F03-3272-43F5-B14F-EE0A0CD1D5B5}" type="slidenum">
              <a:rPr lang="en-US" smtClean="0"/>
              <a:t>11</a:t>
            </a:fld>
            <a:endParaRPr lang="en-US"/>
          </a:p>
        </p:txBody>
      </p:sp>
    </p:spTree>
    <p:extLst>
      <p:ext uri="{BB962C8B-B14F-4D97-AF65-F5344CB8AC3E}">
        <p14:creationId xmlns:p14="http://schemas.microsoft.com/office/powerpoint/2010/main" val="424939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A360-07F3-DBAA-B0CF-8A8E35302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53ABF-7A1E-5C4E-9266-03FC1222082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61CA4483-9C07-3A70-AA40-E38DBD632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F09185-8DE3-A95A-0917-6FF13A73C9BA}"/>
              </a:ext>
            </a:extLst>
          </p:cNvPr>
          <p:cNvSpPr>
            <a:spLocks noGrp="1"/>
          </p:cNvSpPr>
          <p:nvPr>
            <p:ph type="sldNum" sz="quarter" idx="5"/>
          </p:nvPr>
        </p:nvSpPr>
        <p:spPr/>
        <p:txBody>
          <a:bodyPr/>
          <a:lstStyle/>
          <a:p>
            <a:fld id="{7ED36F03-3272-43F5-B14F-EE0A0CD1D5B5}" type="slidenum">
              <a:rPr lang="en-US" smtClean="0"/>
              <a:t>12</a:t>
            </a:fld>
            <a:endParaRPr lang="en-US"/>
          </a:p>
        </p:txBody>
      </p:sp>
    </p:spTree>
    <p:extLst>
      <p:ext uri="{BB962C8B-B14F-4D97-AF65-F5344CB8AC3E}">
        <p14:creationId xmlns:p14="http://schemas.microsoft.com/office/powerpoint/2010/main" val="504931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121B-3AA5-7B8F-923D-DD6CA371C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162F5B-ABEA-5708-3CAD-61EABCBC7992}"/>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23B4DF-17DC-FE34-4534-B988E2B72371}"/>
              </a:ext>
            </a:extLst>
          </p:cNvPr>
          <p:cNvSpPr>
            <a:spLocks noGrp="1"/>
          </p:cNvSpPr>
          <p:nvPr>
            <p:ph type="dt" sz="half" idx="10"/>
          </p:nvPr>
        </p:nvSpPr>
        <p:spPr/>
        <p:txBody>
          <a:bodyPr/>
          <a:lstStyle/>
          <a:p>
            <a:fld id="{63BB92C5-8C87-4991-9ECA-90F72AEF2750}" type="datetime1">
              <a:rPr lang="en-US" smtClean="0"/>
              <a:t>4/14/2026</a:t>
            </a:fld>
            <a:endParaRPr lang="en-US"/>
          </a:p>
        </p:txBody>
      </p:sp>
      <p:sp>
        <p:nvSpPr>
          <p:cNvPr id="5" name="Footer Placeholder 4">
            <a:extLst>
              <a:ext uri="{FF2B5EF4-FFF2-40B4-BE49-F238E27FC236}">
                <a16:creationId xmlns:a16="http://schemas.microsoft.com/office/drawing/2014/main" id="{3DAC8DA8-52B2-A7FC-225D-B7D5E63B57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F9C89-F6AF-8AA3-7935-3235F5D7F3AE}"/>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3903596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EB33-1709-3DE0-2F58-4609E4475E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53B3A6-1720-5D98-5397-39A094EE48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0AB6B1-4AA1-F311-7822-5F16EE1453DD}"/>
              </a:ext>
            </a:extLst>
          </p:cNvPr>
          <p:cNvSpPr>
            <a:spLocks noGrp="1"/>
          </p:cNvSpPr>
          <p:nvPr>
            <p:ph type="dt" sz="half" idx="10"/>
          </p:nvPr>
        </p:nvSpPr>
        <p:spPr/>
        <p:txBody>
          <a:bodyPr/>
          <a:lstStyle/>
          <a:p>
            <a:fld id="{F7921C19-BF5B-404C-A531-F81054C5085C}" type="datetime1">
              <a:rPr lang="en-US" smtClean="0"/>
              <a:t>4/14/2026</a:t>
            </a:fld>
            <a:endParaRPr lang="en-US"/>
          </a:p>
        </p:txBody>
      </p:sp>
      <p:sp>
        <p:nvSpPr>
          <p:cNvPr id="5" name="Footer Placeholder 4">
            <a:extLst>
              <a:ext uri="{FF2B5EF4-FFF2-40B4-BE49-F238E27FC236}">
                <a16:creationId xmlns:a16="http://schemas.microsoft.com/office/drawing/2014/main" id="{10481A5A-873C-08E2-D6B6-B538F39321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D73DE-552F-BCB2-F019-664FBAB9E616}"/>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497834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4A272-6274-556F-39E1-5EEDAE30E0C2}"/>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44A2B8-D0E5-EBE1-A9D9-11A950DF6445}"/>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622F70-CA23-C322-A961-476CB4262458}"/>
              </a:ext>
            </a:extLst>
          </p:cNvPr>
          <p:cNvSpPr>
            <a:spLocks noGrp="1"/>
          </p:cNvSpPr>
          <p:nvPr>
            <p:ph type="dt" sz="half" idx="10"/>
          </p:nvPr>
        </p:nvSpPr>
        <p:spPr/>
        <p:txBody>
          <a:bodyPr/>
          <a:lstStyle/>
          <a:p>
            <a:fld id="{BEF44D96-EF94-45D0-B373-B420C8BE0A4A}" type="datetime1">
              <a:rPr lang="en-US" smtClean="0"/>
              <a:t>4/14/2026</a:t>
            </a:fld>
            <a:endParaRPr lang="en-US"/>
          </a:p>
        </p:txBody>
      </p:sp>
      <p:sp>
        <p:nvSpPr>
          <p:cNvPr id="5" name="Footer Placeholder 4">
            <a:extLst>
              <a:ext uri="{FF2B5EF4-FFF2-40B4-BE49-F238E27FC236}">
                <a16:creationId xmlns:a16="http://schemas.microsoft.com/office/drawing/2014/main" id="{9F4C3975-7975-F30F-2F53-78B666C20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C04019-CB94-5936-9EC1-C9636112D10C}"/>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344585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D205-9F80-EFFB-2245-0CA944D6FA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A734DA-8635-8277-7290-90961E2744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BF3641-3522-4862-928C-0B2641A11F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E6E184-1530-5E7E-862A-C13EACE1CB49}"/>
              </a:ext>
            </a:extLst>
          </p:cNvPr>
          <p:cNvSpPr>
            <a:spLocks noGrp="1"/>
          </p:cNvSpPr>
          <p:nvPr>
            <p:ph type="dt" sz="half" idx="10"/>
          </p:nvPr>
        </p:nvSpPr>
        <p:spPr/>
        <p:txBody>
          <a:bodyPr/>
          <a:lstStyle/>
          <a:p>
            <a:fld id="{76105477-AFC0-4C3D-850B-AF963A17B259}" type="datetime1">
              <a:rPr lang="en-US" smtClean="0"/>
              <a:t>4/14/2026</a:t>
            </a:fld>
            <a:endParaRPr lang="en-US"/>
          </a:p>
        </p:txBody>
      </p:sp>
      <p:sp>
        <p:nvSpPr>
          <p:cNvPr id="6" name="Footer Placeholder 5">
            <a:extLst>
              <a:ext uri="{FF2B5EF4-FFF2-40B4-BE49-F238E27FC236}">
                <a16:creationId xmlns:a16="http://schemas.microsoft.com/office/drawing/2014/main" id="{8B26DD2E-1E21-54C8-35DF-2AEDA65031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837C2-548E-7110-BD87-09EB95C4DB2E}"/>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514783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17D11-14FC-D90B-B87D-03745D7235EF}"/>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66C967-1379-7906-84D9-F71DF5DDC4A0}"/>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145D18-85CF-1E70-F494-8DD2649228C1}"/>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00E498-2EA3-6958-5B60-9CB0056CD4D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8F8FDB-B92A-FFEF-EDFE-873A8632FFAB}"/>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F445A5-3943-44C9-5B35-5086BFA47F62}"/>
              </a:ext>
            </a:extLst>
          </p:cNvPr>
          <p:cNvSpPr>
            <a:spLocks noGrp="1"/>
          </p:cNvSpPr>
          <p:nvPr>
            <p:ph type="dt" sz="half" idx="10"/>
          </p:nvPr>
        </p:nvSpPr>
        <p:spPr/>
        <p:txBody>
          <a:bodyPr/>
          <a:lstStyle/>
          <a:p>
            <a:fld id="{8F2C4271-4C3E-429F-A003-30D11E152B6E}" type="datetime1">
              <a:rPr lang="en-US" smtClean="0"/>
              <a:t>4/14/2026</a:t>
            </a:fld>
            <a:endParaRPr lang="en-US"/>
          </a:p>
        </p:txBody>
      </p:sp>
      <p:sp>
        <p:nvSpPr>
          <p:cNvPr id="8" name="Footer Placeholder 7">
            <a:extLst>
              <a:ext uri="{FF2B5EF4-FFF2-40B4-BE49-F238E27FC236}">
                <a16:creationId xmlns:a16="http://schemas.microsoft.com/office/drawing/2014/main" id="{4F2209A3-C2D4-7C15-3F1F-4AA23230C0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948E20-440D-40FF-CFCF-8F07E01DFC09}"/>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2876168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8070-F7BD-6B66-756E-BA8E36F35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9C63C8-7510-A4B9-2DA6-5EEA651B6800}"/>
              </a:ext>
            </a:extLst>
          </p:cNvPr>
          <p:cNvSpPr>
            <a:spLocks noGrp="1"/>
          </p:cNvSpPr>
          <p:nvPr>
            <p:ph type="dt" sz="half" idx="10"/>
          </p:nvPr>
        </p:nvSpPr>
        <p:spPr/>
        <p:txBody>
          <a:bodyPr/>
          <a:lstStyle/>
          <a:p>
            <a:fld id="{6E20BD15-1A37-4E66-A2A4-23344BDC93D0}" type="datetime1">
              <a:rPr lang="en-US" smtClean="0"/>
              <a:t>4/14/2026</a:t>
            </a:fld>
            <a:endParaRPr lang="en-US"/>
          </a:p>
        </p:txBody>
      </p:sp>
      <p:sp>
        <p:nvSpPr>
          <p:cNvPr id="4" name="Footer Placeholder 3">
            <a:extLst>
              <a:ext uri="{FF2B5EF4-FFF2-40B4-BE49-F238E27FC236}">
                <a16:creationId xmlns:a16="http://schemas.microsoft.com/office/drawing/2014/main" id="{17240D74-AD53-930E-55E7-A04E5FF2FE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CE86A8-DE5A-6314-C73B-357BA64DEB58}"/>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2498445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8BDB6-C932-465F-8C42-3505D5CF638C}"/>
              </a:ext>
            </a:extLst>
          </p:cNvPr>
          <p:cNvSpPr>
            <a:spLocks noGrp="1"/>
          </p:cNvSpPr>
          <p:nvPr>
            <p:ph type="dt" sz="half" idx="10"/>
          </p:nvPr>
        </p:nvSpPr>
        <p:spPr/>
        <p:txBody>
          <a:bodyPr/>
          <a:lstStyle/>
          <a:p>
            <a:fld id="{DC38A388-E35C-4249-8E28-36D5CE52AB03}" type="datetime1">
              <a:rPr lang="en-US" smtClean="0"/>
              <a:t>4/14/2026</a:t>
            </a:fld>
            <a:endParaRPr lang="en-US"/>
          </a:p>
        </p:txBody>
      </p:sp>
      <p:sp>
        <p:nvSpPr>
          <p:cNvPr id="3" name="Footer Placeholder 2">
            <a:extLst>
              <a:ext uri="{FF2B5EF4-FFF2-40B4-BE49-F238E27FC236}">
                <a16:creationId xmlns:a16="http://schemas.microsoft.com/office/drawing/2014/main" id="{40E513A2-BAC8-239A-4120-7034DE8755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EA3E3F-C1AE-7E4C-306E-5AA1A9446A5A}"/>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4111661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0441-8252-EC87-4D7C-5CEF4EAB7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409923-8B03-32CA-6BF6-63FDD7E3A519}"/>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C27FB1-11DB-8622-C29E-E7A8D2DDE4BD}"/>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0C2B6B-C7A2-61F8-16C4-D5583EECDE93}"/>
              </a:ext>
            </a:extLst>
          </p:cNvPr>
          <p:cNvSpPr>
            <a:spLocks noGrp="1"/>
          </p:cNvSpPr>
          <p:nvPr>
            <p:ph type="dt" sz="half" idx="10"/>
          </p:nvPr>
        </p:nvSpPr>
        <p:spPr/>
        <p:txBody>
          <a:bodyPr/>
          <a:lstStyle/>
          <a:p>
            <a:fld id="{779E547A-2D63-46BB-8F38-DEFB0EAC5651}" type="datetime1">
              <a:rPr lang="en-US" smtClean="0"/>
              <a:t>4/14/2026</a:t>
            </a:fld>
            <a:endParaRPr lang="en-US"/>
          </a:p>
        </p:txBody>
      </p:sp>
      <p:sp>
        <p:nvSpPr>
          <p:cNvPr id="6" name="Footer Placeholder 5">
            <a:extLst>
              <a:ext uri="{FF2B5EF4-FFF2-40B4-BE49-F238E27FC236}">
                <a16:creationId xmlns:a16="http://schemas.microsoft.com/office/drawing/2014/main" id="{7C443667-5DDB-FD7A-2571-7ABF4ED9AC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53E84-3275-1C52-F449-9BEA8AFCA564}"/>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2178769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73C3-7B6D-BF5F-8307-43388CE5A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E30617-BE7C-DDD1-2D9B-667371946BBA}"/>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9750735-D4B1-1743-EB1B-31DA1081499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EB280-4C80-18A4-D3E1-E00CC423D176}"/>
              </a:ext>
            </a:extLst>
          </p:cNvPr>
          <p:cNvSpPr>
            <a:spLocks noGrp="1"/>
          </p:cNvSpPr>
          <p:nvPr>
            <p:ph type="dt" sz="half" idx="10"/>
          </p:nvPr>
        </p:nvSpPr>
        <p:spPr/>
        <p:txBody>
          <a:bodyPr/>
          <a:lstStyle/>
          <a:p>
            <a:fld id="{1A778AC6-9430-40E3-B8F3-8EE60A25A732}" type="datetime1">
              <a:rPr lang="en-US" smtClean="0"/>
              <a:t>4/14/2026</a:t>
            </a:fld>
            <a:endParaRPr lang="en-US"/>
          </a:p>
        </p:txBody>
      </p:sp>
      <p:sp>
        <p:nvSpPr>
          <p:cNvPr id="6" name="Footer Placeholder 5">
            <a:extLst>
              <a:ext uri="{FF2B5EF4-FFF2-40B4-BE49-F238E27FC236}">
                <a16:creationId xmlns:a16="http://schemas.microsoft.com/office/drawing/2014/main" id="{78804F94-F38E-11AA-2C6D-1FDFD2ED0F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2CC47-EF46-0E2F-2DC9-CA1CFBE86661}"/>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3360623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F6D4-F9CF-6E9A-652E-B56D4CEE11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E0C93B-5172-120F-EADB-2A4F4E0689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CC8E0B-9849-F93D-8BFE-9AAA6CBA5152}"/>
              </a:ext>
            </a:extLst>
          </p:cNvPr>
          <p:cNvSpPr>
            <a:spLocks noGrp="1"/>
          </p:cNvSpPr>
          <p:nvPr>
            <p:ph type="dt" sz="half" idx="10"/>
          </p:nvPr>
        </p:nvSpPr>
        <p:spPr/>
        <p:txBody>
          <a:bodyPr/>
          <a:lstStyle/>
          <a:p>
            <a:fld id="{3B72EA7D-37CF-4C22-A673-9C3C73BEEA7B}" type="datetime1">
              <a:rPr lang="en-US" smtClean="0"/>
              <a:t>4/14/2026</a:t>
            </a:fld>
            <a:endParaRPr lang="en-US"/>
          </a:p>
        </p:txBody>
      </p:sp>
      <p:sp>
        <p:nvSpPr>
          <p:cNvPr id="5" name="Footer Placeholder 4">
            <a:extLst>
              <a:ext uri="{FF2B5EF4-FFF2-40B4-BE49-F238E27FC236}">
                <a16:creationId xmlns:a16="http://schemas.microsoft.com/office/drawing/2014/main" id="{A270C4C0-E17A-DD28-B300-B8EE235F61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156E1-AE32-DADA-9B2B-B740823AE2C2}"/>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3384893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9455BC-2B90-BFCB-5E60-438A75EF8AED}"/>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601A47-1984-2CBF-6B6B-40B301A8815E}"/>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3E81F4-CDB0-124F-16B4-DEF9DF59B8E6}"/>
              </a:ext>
            </a:extLst>
          </p:cNvPr>
          <p:cNvSpPr>
            <a:spLocks noGrp="1"/>
          </p:cNvSpPr>
          <p:nvPr>
            <p:ph type="dt" sz="half" idx="10"/>
          </p:nvPr>
        </p:nvSpPr>
        <p:spPr/>
        <p:txBody>
          <a:bodyPr/>
          <a:lstStyle/>
          <a:p>
            <a:fld id="{EE402F88-07E5-407A-908D-33CB04A01852}" type="datetime1">
              <a:rPr lang="en-US" smtClean="0"/>
              <a:t>4/14/2026</a:t>
            </a:fld>
            <a:endParaRPr lang="en-US"/>
          </a:p>
        </p:txBody>
      </p:sp>
      <p:sp>
        <p:nvSpPr>
          <p:cNvPr id="5" name="Footer Placeholder 4">
            <a:extLst>
              <a:ext uri="{FF2B5EF4-FFF2-40B4-BE49-F238E27FC236}">
                <a16:creationId xmlns:a16="http://schemas.microsoft.com/office/drawing/2014/main" id="{532BCB98-D483-2721-2925-A93C89F0B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EC2A0-A9AE-AF4F-55E9-55F2DB6A0F6C}"/>
              </a:ext>
            </a:extLst>
          </p:cNvPr>
          <p:cNvSpPr>
            <a:spLocks noGrp="1"/>
          </p:cNvSpPr>
          <p:nvPr>
            <p:ph type="sldNum" sz="quarter" idx="12"/>
          </p:nvPr>
        </p:nvSpPr>
        <p:spPr/>
        <p:txBody>
          <a:bodyPr/>
          <a:lstStyle/>
          <a:p>
            <a:fld id="{3C30CF92-A31B-4DB1-8729-0A0356E4B311}" type="slidenum">
              <a:rPr lang="en-US" smtClean="0"/>
              <a:t>‹#›</a:t>
            </a:fld>
            <a:endParaRPr lang="en-US"/>
          </a:p>
        </p:txBody>
      </p:sp>
    </p:spTree>
    <p:extLst>
      <p:ext uri="{BB962C8B-B14F-4D97-AF65-F5344CB8AC3E}">
        <p14:creationId xmlns:p14="http://schemas.microsoft.com/office/powerpoint/2010/main" val="6469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F40777-1E0C-3447-00C7-352B6C1E6C1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03D4-2CB8-A8B0-02B7-6E917016EF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C4B46-2326-74CF-DE70-D04BEE0777F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25954E-B348-4511-82D6-FBDA41E48390}" type="datetime1">
              <a:rPr lang="en-US" smtClean="0"/>
              <a:t>4/14/2026</a:t>
            </a:fld>
            <a:endParaRPr lang="en-US"/>
          </a:p>
        </p:txBody>
      </p:sp>
      <p:sp>
        <p:nvSpPr>
          <p:cNvPr id="5" name="Footer Placeholder 4">
            <a:extLst>
              <a:ext uri="{FF2B5EF4-FFF2-40B4-BE49-F238E27FC236}">
                <a16:creationId xmlns:a16="http://schemas.microsoft.com/office/drawing/2014/main" id="{1C855B17-4B74-D9A3-BC6F-E299AC27D2BF}"/>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6870EF-5571-513D-A4AE-0FE7DBA5ED3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0CF92-A31B-4DB1-8729-0A0356E4B311}" type="slidenum">
              <a:rPr lang="en-US" smtClean="0"/>
              <a:t>‹#›</a:t>
            </a:fld>
            <a:endParaRPr lang="en-US"/>
          </a:p>
        </p:txBody>
      </p:sp>
    </p:spTree>
    <p:extLst>
      <p:ext uri="{BB962C8B-B14F-4D97-AF65-F5344CB8AC3E}">
        <p14:creationId xmlns:p14="http://schemas.microsoft.com/office/powerpoint/2010/main" val="2100210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5691-0F62-37F3-1B21-5CD5B2F3EFDB}"/>
              </a:ext>
            </a:extLst>
          </p:cNvPr>
          <p:cNvSpPr>
            <a:spLocks noGrp="1"/>
          </p:cNvSpPr>
          <p:nvPr>
            <p:ph type="ctrTitle"/>
          </p:nvPr>
        </p:nvSpPr>
        <p:spPr>
          <a:xfrm>
            <a:off x="1524000" y="178681"/>
            <a:ext cx="9144000" cy="806063"/>
          </a:xfrm>
        </p:spPr>
        <p:txBody>
          <a:bodyPr>
            <a:normAutofit/>
          </a:bodyPr>
          <a:lstStyle/>
          <a:p>
            <a:r>
              <a:rPr lang="en-IN" sz="4000" b="1" dirty="0">
                <a:solidFill>
                  <a:srgbClr val="C00000"/>
                </a:solidFill>
                <a:latin typeface="Book Antiqua" panose="02040602050305030304" pitchFamily="18" charset="0"/>
              </a:rPr>
              <a:t> PROJECT EXCEL-PPT</a:t>
            </a:r>
          </a:p>
        </p:txBody>
      </p:sp>
      <p:sp>
        <p:nvSpPr>
          <p:cNvPr id="3" name="Subtitle 2">
            <a:extLst>
              <a:ext uri="{FF2B5EF4-FFF2-40B4-BE49-F238E27FC236}">
                <a16:creationId xmlns:a16="http://schemas.microsoft.com/office/drawing/2014/main" id="{D7BE3D65-3115-3EA5-5C38-0D1943ABBE3C}"/>
              </a:ext>
            </a:extLst>
          </p:cNvPr>
          <p:cNvSpPr>
            <a:spLocks noGrp="1"/>
          </p:cNvSpPr>
          <p:nvPr>
            <p:ph type="subTitle" idx="1"/>
          </p:nvPr>
        </p:nvSpPr>
        <p:spPr>
          <a:xfrm>
            <a:off x="1524000" y="1160595"/>
            <a:ext cx="9144000" cy="5019904"/>
          </a:xfrm>
        </p:spPr>
        <p:txBody>
          <a:bodyPr>
            <a:normAutofit fontScale="77500" lnSpcReduction="20000"/>
          </a:bodyPr>
          <a:lstStyle/>
          <a:p>
            <a:r>
              <a:rPr lang="en-IN" sz="4600" b="1" i="1" dirty="0">
                <a:solidFill>
                  <a:srgbClr val="002060"/>
                </a:solidFill>
                <a:latin typeface="Times New Roman" panose="02020603050405020304" pitchFamily="18" charset="0"/>
                <a:cs typeface="Times New Roman" panose="02020603050405020304" pitchFamily="18" charset="0"/>
              </a:rPr>
              <a:t>Astro-Sage Analysis                </a:t>
            </a:r>
            <a:r>
              <a:rPr lang="en-IN" sz="4600" b="1" i="1" dirty="0">
                <a:solidFill>
                  <a:schemeClr val="accent5">
                    <a:lumMod val="50000"/>
                  </a:schemeClr>
                </a:solidFill>
                <a:latin typeface="Times New Roman" panose="02020603050405020304" pitchFamily="18" charset="0"/>
                <a:cs typeface="Times New Roman" panose="02020603050405020304" pitchFamily="18" charset="0"/>
              </a:rPr>
              <a:t>                                                         </a:t>
            </a:r>
          </a:p>
          <a:p>
            <a:r>
              <a:rPr lang="en-IN" sz="4600" b="1" i="1" dirty="0">
                <a:solidFill>
                  <a:srgbClr val="002060"/>
                </a:solidFill>
                <a:latin typeface="Bodoni MT" panose="02070603080606020203" pitchFamily="18" charset="0"/>
              </a:rPr>
              <a:t>Presentation by: </a:t>
            </a:r>
            <a:r>
              <a:rPr lang="en-IN" sz="4600" b="1" i="1" dirty="0">
                <a:solidFill>
                  <a:schemeClr val="accent5">
                    <a:lumMod val="50000"/>
                  </a:schemeClr>
                </a:solidFill>
                <a:latin typeface="Bodoni MT" panose="02070603080606020203" pitchFamily="18" charset="0"/>
              </a:rPr>
              <a:t>Aksh Yadav</a:t>
            </a:r>
          </a:p>
          <a:p>
            <a:r>
              <a:rPr lang="en-IN" sz="4600" b="1" i="1" dirty="0">
                <a:solidFill>
                  <a:schemeClr val="accent5">
                    <a:lumMod val="50000"/>
                  </a:schemeClr>
                </a:solidFill>
                <a:latin typeface="Bodoni MT" panose="02070603080606020203" pitchFamily="18" charset="0"/>
              </a:rPr>
              <a:t>                             </a:t>
            </a:r>
          </a:p>
          <a:p>
            <a:r>
              <a:rPr lang="en-IN" sz="4600" b="1" i="1" dirty="0">
                <a:solidFill>
                  <a:schemeClr val="accent5">
                    <a:lumMod val="50000"/>
                  </a:schemeClr>
                </a:solidFill>
                <a:latin typeface="Bodoni MT" panose="02070603080606020203" pitchFamily="18" charset="0"/>
              </a:rPr>
              <a:t>                                                              </a:t>
            </a:r>
          </a:p>
          <a:p>
            <a:r>
              <a:rPr lang="en-IN" sz="4600" b="1" i="1" dirty="0">
                <a:solidFill>
                  <a:srgbClr val="002060"/>
                </a:solidFill>
                <a:latin typeface="Bodoni MT" panose="02070603080606020203" pitchFamily="18" charset="0"/>
              </a:rPr>
              <a:t>          Project Submitted to Newton School of Technology</a:t>
            </a:r>
            <a:endParaRPr lang="en-IN" sz="4600" b="1" i="1" dirty="0">
              <a:solidFill>
                <a:schemeClr val="accent5">
                  <a:lumMod val="50000"/>
                </a:schemeClr>
              </a:solidFill>
              <a:latin typeface="Bodoni MT" panose="02070603080606020203" pitchFamily="18" charset="0"/>
            </a:endParaRPr>
          </a:p>
          <a:p>
            <a:r>
              <a:rPr lang="en-IN" sz="2800" b="1" i="1" dirty="0">
                <a:solidFill>
                  <a:srgbClr val="002060"/>
                </a:solidFill>
                <a:latin typeface="Bodoni MT" panose="02070603080606020203" pitchFamily="18" charset="0"/>
              </a:rPr>
              <a:t>                               </a:t>
            </a:r>
            <a:endParaRPr lang="en-IN" sz="2800" b="1" i="1" dirty="0">
              <a:solidFill>
                <a:schemeClr val="accent5">
                  <a:lumMod val="50000"/>
                </a:schemeClr>
              </a:solidFill>
              <a:latin typeface="Bodoni MT" panose="02070603080606020203" pitchFamily="18" charset="0"/>
            </a:endParaRPr>
          </a:p>
          <a:p>
            <a:r>
              <a:rPr lang="en-IN" sz="2800" b="1" i="1" dirty="0">
                <a:solidFill>
                  <a:schemeClr val="accent5">
                    <a:lumMod val="50000"/>
                  </a:schemeClr>
                </a:solidFill>
                <a:latin typeface="Bodoni MT" panose="02070603080606020203" pitchFamily="18" charset="0"/>
              </a:rPr>
              <a:t>                               </a:t>
            </a:r>
          </a:p>
          <a:p>
            <a:r>
              <a:rPr lang="en-IN" sz="4400" b="1" i="1" dirty="0">
                <a:solidFill>
                  <a:srgbClr val="002060"/>
                </a:solidFill>
                <a:latin typeface="Bodoni MT" panose="02070603080606020203" pitchFamily="18" charset="0"/>
              </a:rPr>
              <a:t>   Date: </a:t>
            </a:r>
            <a:r>
              <a:rPr lang="en-IN" sz="4400" b="1" i="1" dirty="0">
                <a:solidFill>
                  <a:schemeClr val="accent5">
                    <a:lumMod val="50000"/>
                  </a:schemeClr>
                </a:solidFill>
                <a:latin typeface="Bodoni MT" panose="02070603080606020203" pitchFamily="18" charset="0"/>
              </a:rPr>
              <a:t>14/03/2026</a:t>
            </a:r>
            <a:r>
              <a:rPr lang="en-IN" sz="4400" b="1" i="1" dirty="0">
                <a:solidFill>
                  <a:srgbClr val="002060"/>
                </a:solidFill>
                <a:latin typeface="Bodoni MT" panose="02070603080606020203" pitchFamily="18" charset="0"/>
              </a:rPr>
              <a:t>  </a:t>
            </a:r>
          </a:p>
          <a:p>
            <a:r>
              <a:rPr lang="en-IN" sz="2800" b="1" i="1" dirty="0">
                <a:solidFill>
                  <a:srgbClr val="002060"/>
                </a:solidFill>
                <a:latin typeface="Bodoni MT" panose="02070603080606020203" pitchFamily="18" charset="0"/>
              </a:rPr>
              <a:t>                           </a:t>
            </a:r>
          </a:p>
          <a:p>
            <a:r>
              <a:rPr lang="en-IN" sz="2800" b="1" i="1" dirty="0">
                <a:solidFill>
                  <a:srgbClr val="002060"/>
                </a:solidFill>
                <a:latin typeface="Bodoni MT" panose="02070603080606020203" pitchFamily="18" charset="0"/>
              </a:rPr>
              <a:t>             </a:t>
            </a:r>
            <a:endParaRPr lang="en-IN" sz="2800" b="1" i="1" dirty="0">
              <a:solidFill>
                <a:schemeClr val="accent5">
                  <a:lumMod val="50000"/>
                </a:schemeClr>
              </a:solidFill>
              <a:latin typeface="Bodoni MT" panose="02070603080606020203" pitchFamily="18" charset="0"/>
            </a:endParaRPr>
          </a:p>
        </p:txBody>
      </p:sp>
      <p:sp>
        <p:nvSpPr>
          <p:cNvPr id="5" name="Slide Number Placeholder 4">
            <a:extLst>
              <a:ext uri="{FF2B5EF4-FFF2-40B4-BE49-F238E27FC236}">
                <a16:creationId xmlns:a16="http://schemas.microsoft.com/office/drawing/2014/main" id="{A381746E-1B09-58A4-488C-EA2B37AEC063}"/>
              </a:ext>
            </a:extLst>
          </p:cNvPr>
          <p:cNvSpPr>
            <a:spLocks noGrp="1"/>
          </p:cNvSpPr>
          <p:nvPr>
            <p:ph type="sldNum" sz="quarter" idx="12"/>
          </p:nvPr>
        </p:nvSpPr>
        <p:spPr>
          <a:xfrm>
            <a:off x="8610600" y="6356351"/>
            <a:ext cx="3176752" cy="365125"/>
          </a:xfrm>
        </p:spPr>
        <p:txBody>
          <a:bodyPr/>
          <a:lstStyle/>
          <a:p>
            <a:r>
              <a:rPr lang="en-IN" sz="1400" dirty="0"/>
              <a:t>1</a:t>
            </a:r>
          </a:p>
        </p:txBody>
      </p:sp>
      <p:pic>
        <p:nvPicPr>
          <p:cNvPr id="1028" name="Picture 4" descr="Astrosage Company Profile Funding ...">
            <a:extLst>
              <a:ext uri="{FF2B5EF4-FFF2-40B4-BE49-F238E27FC236}">
                <a16:creationId xmlns:a16="http://schemas.microsoft.com/office/drawing/2014/main" id="{E2567CF6-27D4-A8CB-E41D-F254076053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628" b="22756"/>
          <a:stretch>
            <a:fillRect/>
          </a:stretch>
        </p:blipFill>
        <p:spPr bwMode="auto">
          <a:xfrm>
            <a:off x="5064642" y="5690491"/>
            <a:ext cx="1658678" cy="988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536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F181B5-9583-1CB2-A1B5-8DE1D7D421A8}"/>
              </a:ext>
            </a:extLst>
          </p:cNvPr>
          <p:cNvSpPr>
            <a:spLocks noGrp="1"/>
          </p:cNvSpPr>
          <p:nvPr>
            <p:ph type="sldNum" sz="quarter" idx="12"/>
          </p:nvPr>
        </p:nvSpPr>
        <p:spPr/>
        <p:txBody>
          <a:bodyPr/>
          <a:lstStyle/>
          <a:p>
            <a:fld id="{3C30CF92-A31B-4DB1-8729-0A0356E4B311}" type="slidenum">
              <a:rPr lang="en-US" smtClean="0"/>
              <a:t>2</a:t>
            </a:fld>
            <a:endParaRPr lang="en-US"/>
          </a:p>
        </p:txBody>
      </p:sp>
      <p:sp>
        <p:nvSpPr>
          <p:cNvPr id="6" name="Rectangle: Rounded Corners 5">
            <a:extLst>
              <a:ext uri="{FF2B5EF4-FFF2-40B4-BE49-F238E27FC236}">
                <a16:creationId xmlns:a16="http://schemas.microsoft.com/office/drawing/2014/main" id="{9EAB80FC-3AF7-EF1B-4C3E-8AF1B649513D}"/>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25" name="Title 1">
            <a:extLst>
              <a:ext uri="{FF2B5EF4-FFF2-40B4-BE49-F238E27FC236}">
                <a16:creationId xmlns:a16="http://schemas.microsoft.com/office/drawing/2014/main" id="{A3573545-B02B-A850-8C83-4D9F18CB6B5A}"/>
              </a:ext>
            </a:extLst>
          </p:cNvPr>
          <p:cNvSpPr>
            <a:spLocks noGrp="1"/>
          </p:cNvSpPr>
          <p:nvPr>
            <p:ph type="title"/>
          </p:nvPr>
        </p:nvSpPr>
        <p:spPr>
          <a:xfrm>
            <a:off x="838205" y="50356"/>
            <a:ext cx="10119527" cy="706625"/>
          </a:xfrm>
        </p:spPr>
        <p:txBody>
          <a:bodyPr/>
          <a:lstStyle/>
          <a:p>
            <a:pPr algn="ctr"/>
            <a:r>
              <a:rPr lang="en-IN" b="1" dirty="0"/>
              <a:t>  </a:t>
            </a:r>
            <a:r>
              <a:rPr lang="en-IN" sz="4000" b="1" dirty="0">
                <a:solidFill>
                  <a:srgbClr val="0033CC"/>
                </a:solidFill>
                <a:latin typeface="Book Antiqua" panose="02040602050305030304" pitchFamily="18" charset="0"/>
              </a:rPr>
              <a:t>INTRODUCTION </a:t>
            </a:r>
          </a:p>
        </p:txBody>
      </p:sp>
      <p:pic>
        <p:nvPicPr>
          <p:cNvPr id="2" name="Picture 4" descr="Astrosage Company Profile Funding ...">
            <a:extLst>
              <a:ext uri="{FF2B5EF4-FFF2-40B4-BE49-F238E27FC236}">
                <a16:creationId xmlns:a16="http://schemas.microsoft.com/office/drawing/2014/main" id="{A012FAB6-4AE1-BB1A-BC05-BDE35AFC72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5921B69E-723D-15EC-8B24-CE20DCA757AA}"/>
              </a:ext>
            </a:extLst>
          </p:cNvPr>
          <p:cNvSpPr>
            <a:spLocks noChangeArrowheads="1"/>
          </p:cNvSpPr>
          <p:nvPr/>
        </p:nvSpPr>
        <p:spPr bwMode="auto">
          <a:xfrm rot="10800000" flipV="1">
            <a:off x="416804" y="835367"/>
            <a:ext cx="1124143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product that started as a simple Kundli generator now claims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millions of daily users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showing how a niche service became mainstream via mobile apps. </a:t>
            </a:r>
          </a:p>
          <a:p>
            <a:pPr marL="0" marR="0" lvl="0" indent="0" algn="just"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AstroSage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astrologer marketplace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~700,000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registered astrologers (massive supply-side scale). </a:t>
            </a:r>
          </a:p>
          <a:p>
            <a:pPr marL="0" marR="0" lvl="0" indent="0" algn="just" defTabSz="914400" rtl="0" eaLnBrk="0" fontAlgn="base" latinLnBrk="0" hangingPunct="0">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lang="en-US" sz="2000" dirty="0" err="1">
                <a:latin typeface="Times New Roman" panose="02020603050405020304" pitchFamily="18" charset="0"/>
                <a:cs typeface="Times New Roman" panose="02020603050405020304" pitchFamily="18" charset="0"/>
              </a:rPr>
              <a:t>AstroSage</a:t>
            </a:r>
            <a:r>
              <a:rPr lang="en-US" sz="2000" dirty="0">
                <a:latin typeface="Times New Roman" panose="02020603050405020304" pitchFamily="18" charset="0"/>
                <a:cs typeface="Times New Roman" panose="02020603050405020304" pitchFamily="18" charset="0"/>
              </a:rPr>
              <a:t> began as a tech-first approach to Vedic astrology and has grown into one of India’s largest digital astrology platforms by combining traditional </a:t>
            </a:r>
            <a:r>
              <a:rPr lang="en-US" sz="2000" dirty="0" err="1">
                <a:latin typeface="Times New Roman" panose="02020603050405020304" pitchFamily="18" charset="0"/>
                <a:cs typeface="Times New Roman" panose="02020603050405020304" pitchFamily="18" charset="0"/>
              </a:rPr>
              <a:t>jyotish</a:t>
            </a:r>
            <a:r>
              <a:rPr lang="en-US" sz="2000" dirty="0">
                <a:latin typeface="Times New Roman" panose="02020603050405020304" pitchFamily="18" charset="0"/>
                <a:cs typeface="Times New Roman" panose="02020603050405020304" pitchFamily="18" charset="0"/>
              </a:rPr>
              <a:t> with mobile apps, AI tools and a marketplace for astrologers.</a:t>
            </a:r>
          </a:p>
          <a:p>
            <a:pPr algn="just" eaLnBrk="0" fontAlgn="base" hangingPunct="0">
              <a:spcBef>
                <a:spcPct val="0"/>
              </a:spcBef>
              <a:spcAft>
                <a:spcPct val="0"/>
              </a:spcAft>
              <a:buFontTx/>
              <a:buChar char="•"/>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So </a:t>
            </a:r>
            <a:r>
              <a:rPr lang="en-US" sz="2000" dirty="0" err="1">
                <a:latin typeface="Times New Roman" panose="02020603050405020304" pitchFamily="18" charset="0"/>
                <a:cs typeface="Times New Roman" panose="02020603050405020304" pitchFamily="18" charset="0"/>
              </a:rPr>
              <a:t>astrosage</a:t>
            </a:r>
            <a:r>
              <a:rPr lang="en-US" sz="2000" dirty="0">
                <a:latin typeface="Times New Roman" panose="02020603050405020304" pitchFamily="18" charset="0"/>
                <a:cs typeface="Times New Roman" panose="02020603050405020304" pitchFamily="18" charset="0"/>
              </a:rPr>
              <a:t> received a 1 crore investment so are aim is to optimizing the call center operations, increasing efficiency, customer satisfaction and make it profitable.</a:t>
            </a:r>
          </a:p>
          <a:p>
            <a:pPr algn="just" eaLnBrk="0" fontAlgn="base" hangingPunct="0">
              <a:spcBef>
                <a:spcPct val="0"/>
              </a:spcBef>
              <a:spcAft>
                <a:spcPct val="0"/>
              </a:spcAft>
              <a:buFontTx/>
              <a:buChar char="•"/>
            </a:pPr>
            <a:endParaRPr 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With this objective we are going to analyze the trends and how the marketplace is growing to invest the large amount in the necessary service to make it scalable and profitable.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115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30C4-1DA4-56B3-E080-D7F1643CB303}"/>
              </a:ext>
            </a:extLst>
          </p:cNvPr>
          <p:cNvSpPr>
            <a:spLocks noGrp="1"/>
          </p:cNvSpPr>
          <p:nvPr>
            <p:ph type="title"/>
          </p:nvPr>
        </p:nvSpPr>
        <p:spPr>
          <a:xfrm>
            <a:off x="838205" y="50356"/>
            <a:ext cx="10119527" cy="706625"/>
          </a:xfrm>
        </p:spPr>
        <p:txBody>
          <a:bodyPr/>
          <a:lstStyle/>
          <a:p>
            <a:pPr algn="ctr"/>
            <a:r>
              <a:rPr lang="en-IN" b="1" dirty="0"/>
              <a:t>  </a:t>
            </a:r>
            <a:endParaRPr lang="en-IN" sz="4000" b="1" dirty="0">
              <a:solidFill>
                <a:srgbClr val="0033CC"/>
              </a:solidFill>
              <a:latin typeface="Book Antiqua" panose="02040602050305030304" pitchFamily="18" charset="0"/>
            </a:endParaRPr>
          </a:p>
        </p:txBody>
      </p:sp>
      <p:sp>
        <p:nvSpPr>
          <p:cNvPr id="5" name="Slide Number Placeholder 4">
            <a:extLst>
              <a:ext uri="{FF2B5EF4-FFF2-40B4-BE49-F238E27FC236}">
                <a16:creationId xmlns:a16="http://schemas.microsoft.com/office/drawing/2014/main" id="{9F1A9FC4-7E8C-D9FD-7C51-52FBD32EBCE9}"/>
              </a:ext>
            </a:extLst>
          </p:cNvPr>
          <p:cNvSpPr>
            <a:spLocks noGrp="1"/>
          </p:cNvSpPr>
          <p:nvPr>
            <p:ph type="sldNum" sz="quarter" idx="12"/>
          </p:nvPr>
        </p:nvSpPr>
        <p:spPr>
          <a:xfrm>
            <a:off x="8610600" y="6356351"/>
            <a:ext cx="3176752" cy="365125"/>
          </a:xfrm>
        </p:spPr>
        <p:txBody>
          <a:bodyPr/>
          <a:lstStyle/>
          <a:p>
            <a:fld id="{8DE901E0-5326-4489-B423-CB4000F9FACB}" type="slidenum">
              <a:rPr lang="en-IN" sz="1400"/>
              <a:t>3</a:t>
            </a:fld>
            <a:endParaRPr lang="en-IN" sz="1400" dirty="0"/>
          </a:p>
        </p:txBody>
      </p:sp>
      <p:sp>
        <p:nvSpPr>
          <p:cNvPr id="4" name="Rectangle: Rounded Corners 3">
            <a:extLst>
              <a:ext uri="{FF2B5EF4-FFF2-40B4-BE49-F238E27FC236}">
                <a16:creationId xmlns:a16="http://schemas.microsoft.com/office/drawing/2014/main" id="{112BF475-B3A1-EFAF-7871-04BFA875890C}"/>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9" name="Content Placeholder 3">
            <a:extLst>
              <a:ext uri="{FF2B5EF4-FFF2-40B4-BE49-F238E27FC236}">
                <a16:creationId xmlns:a16="http://schemas.microsoft.com/office/drawing/2014/main" id="{BD55EA65-2653-EF7E-B7B8-D464CA0FFEF1}"/>
              </a:ext>
            </a:extLst>
          </p:cNvPr>
          <p:cNvSpPr>
            <a:spLocks noGrp="1"/>
          </p:cNvSpPr>
          <p:nvPr>
            <p:ph idx="1"/>
          </p:nvPr>
        </p:nvSpPr>
        <p:spPr>
          <a:xfrm>
            <a:off x="409904" y="924172"/>
            <a:ext cx="11666483" cy="5785945"/>
          </a:xfrm>
        </p:spPr>
        <p:txBody>
          <a:bodyPr/>
          <a:lstStyle/>
          <a:p>
            <a:pPr marL="0" indent="0" algn="r">
              <a:buNone/>
            </a:pPr>
            <a:endParaRPr lang="en-IN" sz="1600" dirty="0"/>
          </a:p>
          <a:p>
            <a:pPr marL="0" indent="0">
              <a:buNone/>
            </a:pPr>
            <a:endParaRPr lang="en-IN" dirty="0"/>
          </a:p>
          <a:p>
            <a:pPr marL="0" indent="0">
              <a:buNone/>
            </a:pPr>
            <a:endParaRPr lang="en-IN" dirty="0"/>
          </a:p>
          <a:p>
            <a:pPr marL="0" indent="0">
              <a:buNone/>
            </a:pPr>
            <a:endParaRPr lang="en-IN" dirty="0"/>
          </a:p>
          <a:p>
            <a:pPr marL="0" indent="0" algn="r">
              <a:buNone/>
            </a:pPr>
            <a:endParaRPr lang="en-IN" dirty="0"/>
          </a:p>
          <a:p>
            <a:pPr marL="0" indent="0" algn="r">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600" dirty="0">
              <a:latin typeface="Times New Roman" panose="02020603050405020304" pitchFamily="18" charset="0"/>
              <a:ea typeface="Calibri" panose="020F0502020204030204" pitchFamily="34" charset="0"/>
            </a:endParaRPr>
          </a:p>
          <a:p>
            <a:pPr marL="0" indent="0">
              <a:buNone/>
            </a:pPr>
            <a:endParaRPr lang="en-US" sz="1600" dirty="0">
              <a:latin typeface="Times New Roman" panose="02020603050405020304" pitchFamily="18" charset="0"/>
              <a:ea typeface="Calibri" panose="020F0502020204030204" pitchFamily="34" charset="0"/>
            </a:endParaRPr>
          </a:p>
          <a:p>
            <a:pPr marL="0" indent="0">
              <a:buNone/>
            </a:pPr>
            <a:endParaRPr lang="en-IN" sz="1800" dirty="0"/>
          </a:p>
          <a:p>
            <a:pPr marL="0" indent="0">
              <a:buNone/>
            </a:pPr>
            <a:endParaRPr lang="en-IN" sz="1800" dirty="0"/>
          </a:p>
          <a:p>
            <a:endParaRPr lang="en-IN" sz="1800" dirty="0"/>
          </a:p>
          <a:p>
            <a:endParaRPr lang="en-IN" dirty="0"/>
          </a:p>
          <a:p>
            <a:endParaRPr lang="en-IN" dirty="0"/>
          </a:p>
          <a:p>
            <a:endParaRPr lang="en-IN" dirty="0"/>
          </a:p>
        </p:txBody>
      </p:sp>
      <p:sp>
        <p:nvSpPr>
          <p:cNvPr id="3" name="Content Placeholder 2">
            <a:extLst>
              <a:ext uri="{FF2B5EF4-FFF2-40B4-BE49-F238E27FC236}">
                <a16:creationId xmlns:a16="http://schemas.microsoft.com/office/drawing/2014/main" id="{DEB10336-0D08-B2C8-8C83-059205909B64}"/>
              </a:ext>
            </a:extLst>
          </p:cNvPr>
          <p:cNvSpPr txBox="1">
            <a:spLocks/>
          </p:cNvSpPr>
          <p:nvPr/>
        </p:nvSpPr>
        <p:spPr>
          <a:xfrm>
            <a:off x="558362" y="870975"/>
            <a:ext cx="11369565" cy="5409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As we know data is oil for any analysis to understand the data is most important.</a:t>
            </a:r>
          </a:p>
          <a:p>
            <a:pPr algn="just">
              <a:lnSpc>
                <a:spcPct val="10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Getting the raw data won’t make analysis correct. We need to clean the dataset for the analysis.</a:t>
            </a:r>
          </a:p>
          <a:p>
            <a:pPr algn="just">
              <a:lnSpc>
                <a:spcPct val="10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Removed the </a:t>
            </a:r>
            <a:r>
              <a:rPr lang="en-IN" sz="2000" b="1" dirty="0">
                <a:solidFill>
                  <a:srgbClr val="C00000"/>
                </a:solidFill>
                <a:latin typeface="Times New Roman" panose="02020603050405020304" pitchFamily="18" charset="0"/>
                <a:cs typeface="Times New Roman" panose="02020603050405020304" pitchFamily="18" charset="0"/>
              </a:rPr>
              <a:t>duplicates</a:t>
            </a:r>
            <a:r>
              <a:rPr lang="en-IN" sz="2000" dirty="0">
                <a:solidFill>
                  <a:srgbClr val="C00000"/>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to avoid overcounting.</a:t>
            </a:r>
          </a:p>
          <a:p>
            <a:pPr algn="just">
              <a:lnSpc>
                <a:spcPct val="10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Handle missing values and filled with average/mean/mode.</a:t>
            </a:r>
          </a:p>
          <a:p>
            <a:pPr algn="just">
              <a:lnSpc>
                <a:spcPct val="10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Remove the columns with large data missing.</a:t>
            </a:r>
          </a:p>
          <a:p>
            <a:pPr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Corrected </a:t>
            </a:r>
            <a:r>
              <a:rPr lang="en-US" sz="2000" b="1" dirty="0">
                <a:solidFill>
                  <a:srgbClr val="C00000"/>
                </a:solidFill>
                <a:latin typeface="Times New Roman" panose="02020603050405020304" pitchFamily="18" charset="0"/>
                <a:cs typeface="Times New Roman" panose="02020603050405020304" pitchFamily="18" charset="0"/>
              </a:rPr>
              <a:t>categorical inconsistencies</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(agent names, call status labels).</a:t>
            </a:r>
          </a:p>
          <a:p>
            <a:pPr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Validated the cleaned dataset for the analysis.</a:t>
            </a:r>
          </a:p>
          <a:p>
            <a:pPr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This cleaned data derive many matrices and very important to any kind of analysis for the </a:t>
            </a:r>
            <a:r>
              <a:rPr lang="en-US" sz="2000" b="1" dirty="0">
                <a:latin typeface="Times New Roman" panose="02020603050405020304" pitchFamily="18" charset="0"/>
                <a:cs typeface="Times New Roman" panose="02020603050405020304" pitchFamily="18" charset="0"/>
              </a:rPr>
              <a:t>product in the company and their services.</a:t>
            </a:r>
          </a:p>
          <a:p>
            <a:pPr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Some key factors-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srgbClr val="008000"/>
                </a:solidFill>
                <a:effectLst/>
                <a:uLnTx/>
                <a:uFillTx/>
                <a:latin typeface="Times New Roman" panose="02020603050405020304" pitchFamily="18" charset="0"/>
                <a:cs typeface="Times New Roman" panose="02020603050405020304" pitchFamily="18" charset="0"/>
              </a:rPr>
              <a:t>Enables identification of </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peak demand periods.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srgbClr val="008000"/>
                </a:solidFill>
                <a:effectLst/>
                <a:uLnTx/>
                <a:uFillTx/>
                <a:latin typeface="Times New Roman" panose="02020603050405020304" pitchFamily="18" charset="0"/>
                <a:cs typeface="Times New Roman" panose="02020603050405020304" pitchFamily="18" charset="0"/>
              </a:rPr>
              <a:t>Helps evaluate </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agent efficiency and service quality.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srgbClr val="008000"/>
                </a:solidFill>
                <a:effectLst/>
                <a:uLnTx/>
                <a:uFillTx/>
                <a:latin typeface="Times New Roman" panose="02020603050405020304" pitchFamily="18" charset="0"/>
                <a:cs typeface="Times New Roman" panose="02020603050405020304" pitchFamily="18" charset="0"/>
              </a:rPr>
              <a:t>Supports</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data-driven decisions </a:t>
            </a:r>
            <a:r>
              <a:rPr kumimoji="0" lang="en-US" altLang="en-US" sz="2000" b="1" i="0" u="none" strike="noStrike" kern="1200" cap="none" spc="0" normalizeH="0" baseline="0" noProof="0" dirty="0">
                <a:ln>
                  <a:noFill/>
                </a:ln>
                <a:solidFill>
                  <a:srgbClr val="008000"/>
                </a:solidFill>
                <a:effectLst/>
                <a:uLnTx/>
                <a:uFillTx/>
                <a:latin typeface="Times New Roman" panose="02020603050405020304" pitchFamily="18" charset="0"/>
                <a:cs typeface="Times New Roman" panose="02020603050405020304" pitchFamily="18" charset="0"/>
              </a:rPr>
              <a:t>for expansion and investment planning.</a:t>
            </a:r>
          </a:p>
          <a:p>
            <a:pPr algn="just">
              <a:lnSpc>
                <a:spcPct val="100000"/>
              </a:lnSpc>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20B466A2-4F36-B7E7-E69D-9BB2C309D5FC}"/>
              </a:ext>
            </a:extLst>
          </p:cNvPr>
          <p:cNvSpPr txBox="1">
            <a:spLocks/>
          </p:cNvSpPr>
          <p:nvPr/>
        </p:nvSpPr>
        <p:spPr>
          <a:xfrm>
            <a:off x="934506" y="50356"/>
            <a:ext cx="10119527" cy="70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  </a:t>
            </a:r>
            <a:r>
              <a:rPr lang="en-IN" sz="4000" b="1" dirty="0">
                <a:solidFill>
                  <a:srgbClr val="0033CC"/>
                </a:solidFill>
                <a:latin typeface="Book Antiqua" panose="02040602050305030304" pitchFamily="18" charset="0"/>
              </a:rPr>
              <a:t>DATA OVERVIEW</a:t>
            </a:r>
          </a:p>
        </p:txBody>
      </p:sp>
      <p:pic>
        <p:nvPicPr>
          <p:cNvPr id="10" name="Picture 4" descr="Astrosage Company Profile Funding ...">
            <a:extLst>
              <a:ext uri="{FF2B5EF4-FFF2-40B4-BE49-F238E27FC236}">
                <a16:creationId xmlns:a16="http://schemas.microsoft.com/office/drawing/2014/main" id="{3F589F94-627C-5F36-060B-F80051F14F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628" b="22756"/>
          <a:stretch>
            <a:fillRect/>
          </a:stretch>
        </p:blipFill>
        <p:spPr bwMode="auto">
          <a:xfrm>
            <a:off x="5266661" y="5884189"/>
            <a:ext cx="1658678" cy="988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760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ADBF59-FD0E-A4C1-D317-3C6E70FC1DA1}"/>
              </a:ext>
            </a:extLst>
          </p:cNvPr>
          <p:cNvSpPr>
            <a:spLocks noGrp="1"/>
          </p:cNvSpPr>
          <p:nvPr>
            <p:ph type="sldNum" sz="quarter" idx="12"/>
          </p:nvPr>
        </p:nvSpPr>
        <p:spPr>
          <a:xfrm>
            <a:off x="9737838" y="6255804"/>
            <a:ext cx="2200831" cy="460453"/>
          </a:xfrm>
          <a:ln>
            <a:noFill/>
          </a:ln>
        </p:spPr>
        <p:style>
          <a:lnRef idx="2">
            <a:schemeClr val="dk1"/>
          </a:lnRef>
          <a:fillRef idx="1">
            <a:schemeClr val="lt1"/>
          </a:fillRef>
          <a:effectRef idx="0">
            <a:schemeClr val="dk1"/>
          </a:effectRef>
          <a:fontRef idx="minor">
            <a:schemeClr val="dk1"/>
          </a:fontRef>
        </p:style>
        <p:txBody>
          <a:bodyPr/>
          <a:lstStyle/>
          <a:p>
            <a:fld id="{19825096-E9A8-40B3-B1D8-72EA732AF79F}" type="slidenum">
              <a:rPr lang="en-IN" sz="1400">
                <a:latin typeface="Times New Roman" panose="02020603050405020304" pitchFamily="18" charset="0"/>
                <a:cs typeface="Times New Roman" panose="02020603050405020304" pitchFamily="18" charset="0"/>
              </a:rPr>
              <a:t>4</a:t>
            </a:fld>
            <a:endParaRPr lang="en-IN" sz="1400" dirty="0">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28B7B14C-E416-EA69-E1D9-CAD65C500638}"/>
              </a:ext>
            </a:extLst>
          </p:cNvPr>
          <p:cNvSpPr/>
          <p:nvPr/>
        </p:nvSpPr>
        <p:spPr>
          <a:xfrm rot="10800000">
            <a:off x="0" y="662996"/>
            <a:ext cx="12192000" cy="81024"/>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17" name="Title 1">
            <a:extLst>
              <a:ext uri="{FF2B5EF4-FFF2-40B4-BE49-F238E27FC236}">
                <a16:creationId xmlns:a16="http://schemas.microsoft.com/office/drawing/2014/main" id="{B2F1B02E-2D9A-B822-2F99-9DD41505433B}"/>
              </a:ext>
            </a:extLst>
          </p:cNvPr>
          <p:cNvSpPr txBox="1">
            <a:spLocks/>
          </p:cNvSpPr>
          <p:nvPr/>
        </p:nvSpPr>
        <p:spPr>
          <a:xfrm>
            <a:off x="645867" y="64138"/>
            <a:ext cx="10515600" cy="79567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0033CC"/>
                </a:solidFill>
                <a:latin typeface="Book Antiqua" panose="02040602050305030304" pitchFamily="18" charset="0"/>
                <a:cs typeface="Times New Roman" panose="02020603050405020304" pitchFamily="18" charset="0"/>
              </a:rPr>
              <a:t> METHODOLOGY</a:t>
            </a:r>
            <a:endParaRPr lang="en-US" sz="3600" b="1" dirty="0">
              <a:solidFill>
                <a:srgbClr val="0033CC"/>
              </a:solidFill>
            </a:endParaRPr>
          </a:p>
        </p:txBody>
      </p:sp>
      <p:sp>
        <p:nvSpPr>
          <p:cNvPr id="4" name="TextBox 3">
            <a:extLst>
              <a:ext uri="{FF2B5EF4-FFF2-40B4-BE49-F238E27FC236}">
                <a16:creationId xmlns:a16="http://schemas.microsoft.com/office/drawing/2014/main" id="{82262390-E81E-FC78-E27B-921C4CA97610}"/>
              </a:ext>
            </a:extLst>
          </p:cNvPr>
          <p:cNvSpPr txBox="1"/>
          <p:nvPr/>
        </p:nvSpPr>
        <p:spPr>
          <a:xfrm>
            <a:off x="253331" y="859809"/>
            <a:ext cx="11633869" cy="5632311"/>
          </a:xfrm>
          <a:prstGeom prst="rect">
            <a:avLst/>
          </a:prstGeom>
          <a:noFill/>
        </p:spPr>
        <p:txBody>
          <a:bodyPr wrap="square" rtlCol="0">
            <a:spAutoFit/>
          </a:bodyPr>
          <a:lstStyle/>
          <a:p>
            <a:pPr algn="just"/>
            <a:r>
              <a:rPr lang="en-US" sz="2000" b="1" dirty="0">
                <a:solidFill>
                  <a:srgbClr val="990000"/>
                </a:solidFill>
                <a:latin typeface="Times New Roman" panose="02020603050405020304" pitchFamily="18" charset="0"/>
                <a:cs typeface="Times New Roman" panose="02020603050405020304" pitchFamily="18" charset="0"/>
              </a:rPr>
              <a:t>Analytical Methods &amp; Tools Used</a:t>
            </a:r>
          </a:p>
          <a:p>
            <a:pPr algn="just"/>
            <a:endParaRPr lang="en-US" sz="2000" dirty="0"/>
          </a:p>
          <a:p>
            <a:pPr algn="just"/>
            <a:r>
              <a:rPr lang="en-US" sz="2000" b="1" dirty="0">
                <a:solidFill>
                  <a:srgbClr val="0070C0"/>
                </a:solidFill>
                <a:latin typeface="Times New Roman" panose="02020603050405020304" pitchFamily="18" charset="0"/>
                <a:cs typeface="Times New Roman" panose="02020603050405020304" pitchFamily="18" charset="0"/>
              </a:rPr>
              <a:t>Data Cleaning &amp; Preparation: </a:t>
            </a:r>
          </a:p>
          <a:p>
            <a:pPr algn="just"/>
            <a:r>
              <a:rPr lang="en-US" sz="2000" dirty="0"/>
              <a:t>			</a:t>
            </a:r>
            <a:r>
              <a:rPr lang="en-US" sz="2000" dirty="0">
                <a:latin typeface="Times New Roman" panose="02020603050405020304" pitchFamily="18" charset="0"/>
                <a:cs typeface="Times New Roman" panose="02020603050405020304" pitchFamily="18" charset="0"/>
              </a:rPr>
              <a:t>Remove duplicates</a:t>
            </a:r>
          </a:p>
          <a:p>
            <a:pPr algn="just"/>
            <a:r>
              <a:rPr lang="en-US" sz="2000" dirty="0">
                <a:latin typeface="Times New Roman" panose="02020603050405020304" pitchFamily="18" charset="0"/>
                <a:cs typeface="Times New Roman" panose="02020603050405020304" pitchFamily="18" charset="0"/>
              </a:rPr>
              <a:t>			Handle Blanks</a:t>
            </a:r>
          </a:p>
          <a:p>
            <a:pPr algn="just"/>
            <a:r>
              <a:rPr lang="en-US" sz="2000" dirty="0">
                <a:latin typeface="Times New Roman" panose="02020603050405020304" pitchFamily="18" charset="0"/>
                <a:cs typeface="Times New Roman" panose="02020603050405020304" pitchFamily="18" charset="0"/>
              </a:rPr>
              <a:t>			Standardized correct format</a:t>
            </a:r>
          </a:p>
          <a:p>
            <a:pPr algn="just"/>
            <a:r>
              <a:rPr lang="en-US" sz="2000" b="1" dirty="0">
                <a:solidFill>
                  <a:srgbClr val="0070C0"/>
                </a:solidFill>
                <a:latin typeface="Times New Roman" panose="02020603050405020304" pitchFamily="18" charset="0"/>
                <a:cs typeface="Times New Roman" panose="02020603050405020304" pitchFamily="18" charset="0"/>
              </a:rPr>
              <a:t>Tools Used:</a:t>
            </a:r>
          </a:p>
          <a:p>
            <a:pPr algn="just"/>
            <a:r>
              <a:rPr lang="en-US" sz="2000" dirty="0">
                <a:latin typeface="Times New Roman" panose="02020603050405020304" pitchFamily="18" charset="0"/>
                <a:cs typeface="Times New Roman" panose="02020603050405020304" pitchFamily="18" charset="0"/>
              </a:rPr>
              <a:t>	Is blank, Average, Trim, Find and Replace, Formatting</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solidFill>
                  <a:srgbClr val="0070C0"/>
                </a:solidFill>
                <a:latin typeface="Times New Roman" panose="02020603050405020304" pitchFamily="18" charset="0"/>
                <a:cs typeface="Times New Roman" panose="02020603050405020304" pitchFamily="18" charset="0"/>
              </a:rPr>
              <a:t>Trend &amp; Comparative Analysis:</a:t>
            </a:r>
          </a:p>
          <a:p>
            <a:pPr algn="just"/>
            <a:r>
              <a:rPr lang="en-US" sz="2000" dirty="0">
                <a:latin typeface="Times New Roman" panose="02020603050405020304" pitchFamily="18" charset="0"/>
                <a:cs typeface="Times New Roman" panose="02020603050405020304" pitchFamily="18" charset="0"/>
              </a:rPr>
              <a:t>			Patterns and changes over time were analyzed to support decision-making:</a:t>
            </a:r>
          </a:p>
          <a:p>
            <a:pPr algn="just"/>
            <a:r>
              <a:rPr lang="en-US" sz="2000" b="1" dirty="0">
                <a:latin typeface="Times New Roman" panose="02020603050405020304" pitchFamily="18" charset="0"/>
                <a:cs typeface="Times New Roman" panose="02020603050405020304" pitchFamily="18" charset="0"/>
              </a:rPr>
              <a:t>			Day-by-day and month-by-month</a:t>
            </a:r>
            <a:r>
              <a:rPr lang="en-US" sz="2000" dirty="0">
                <a:latin typeface="Times New Roman" panose="02020603050405020304" pitchFamily="18" charset="0"/>
                <a:cs typeface="Times New Roman" panose="02020603050405020304" pitchFamily="18" charset="0"/>
              </a:rPr>
              <a:t> call trends</a:t>
            </a:r>
          </a:p>
          <a:p>
            <a:pPr algn="just"/>
            <a:r>
              <a:rPr lang="en-US" sz="2000" dirty="0">
                <a:latin typeface="Times New Roman" panose="02020603050405020304" pitchFamily="18" charset="0"/>
                <a:cs typeface="Times New Roman" panose="02020603050405020304" pitchFamily="18" charset="0"/>
              </a:rPr>
              <a:t>			Comparison of agent workload to detect:</a:t>
            </a:r>
          </a:p>
          <a:p>
            <a:pPr lvl="1" algn="just"/>
            <a:r>
              <a:rPr lang="en-US" sz="2000" dirty="0">
                <a:latin typeface="Times New Roman" panose="02020603050405020304" pitchFamily="18" charset="0"/>
                <a:cs typeface="Times New Roman" panose="02020603050405020304" pitchFamily="18" charset="0"/>
              </a:rPr>
              <a:t>			Overloaded agents (burnout risk)</a:t>
            </a:r>
          </a:p>
          <a:p>
            <a:pPr lvl="1" algn="just"/>
            <a:r>
              <a:rPr lang="en-US" sz="2000" dirty="0">
                <a:latin typeface="Times New Roman" panose="02020603050405020304" pitchFamily="18" charset="0"/>
                <a:cs typeface="Times New Roman" panose="02020603050405020304" pitchFamily="18" charset="0"/>
              </a:rPr>
              <a:t>			Underutilized agents (capacity available)</a:t>
            </a:r>
          </a:p>
          <a:p>
            <a:pPr algn="just"/>
            <a:r>
              <a:rPr lang="en-US" sz="2000" b="1" dirty="0">
                <a:solidFill>
                  <a:srgbClr val="0070C0"/>
                </a:solidFill>
                <a:latin typeface="Times New Roman" panose="02020603050405020304" pitchFamily="18" charset="0"/>
                <a:cs typeface="Times New Roman" panose="02020603050405020304" pitchFamily="18" charset="0"/>
              </a:rPr>
              <a:t>Function Used:</a:t>
            </a:r>
          </a:p>
          <a:p>
            <a:pPr algn="just"/>
            <a:r>
              <a:rPr lang="en-US" sz="2000" dirty="0">
                <a:latin typeface="Times New Roman" panose="02020603050405020304" pitchFamily="18" charset="0"/>
                <a:cs typeface="Times New Roman" panose="02020603050405020304" pitchFamily="18" charset="0"/>
              </a:rPr>
              <a:t>	Pivot tables and Charts Extensively.			</a:t>
            </a:r>
          </a:p>
          <a:p>
            <a:pPr algn="just"/>
            <a:endParaRPr lang="en-US" sz="2000" dirty="0"/>
          </a:p>
        </p:txBody>
      </p:sp>
      <p:pic>
        <p:nvPicPr>
          <p:cNvPr id="6" name="Picture 4" descr="Astrosage Company Profile Funding ...">
            <a:extLst>
              <a:ext uri="{FF2B5EF4-FFF2-40B4-BE49-F238E27FC236}">
                <a16:creationId xmlns:a16="http://schemas.microsoft.com/office/drawing/2014/main" id="{615768E4-0B62-A263-362E-BED591BCE2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182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23235-AC95-419B-CFFA-583765884EF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ACABE6-BFB5-9A36-BB95-A316311D395E}"/>
              </a:ext>
            </a:extLst>
          </p:cNvPr>
          <p:cNvSpPr>
            <a:spLocks noGrp="1"/>
          </p:cNvSpPr>
          <p:nvPr>
            <p:ph type="sldNum" sz="quarter" idx="12"/>
          </p:nvPr>
        </p:nvSpPr>
        <p:spPr/>
        <p:txBody>
          <a:bodyPr/>
          <a:lstStyle/>
          <a:p>
            <a:fld id="{3C30CF92-A31B-4DB1-8729-0A0356E4B311}" type="slidenum">
              <a:rPr lang="en-US" smtClean="0"/>
              <a:t>5</a:t>
            </a:fld>
            <a:endParaRPr lang="en-US"/>
          </a:p>
        </p:txBody>
      </p:sp>
      <p:sp>
        <p:nvSpPr>
          <p:cNvPr id="6" name="Rectangle: Rounded Corners 5">
            <a:extLst>
              <a:ext uri="{FF2B5EF4-FFF2-40B4-BE49-F238E27FC236}">
                <a16:creationId xmlns:a16="http://schemas.microsoft.com/office/drawing/2014/main" id="{B544E67A-8B3A-C940-3CEF-DD941A517719}"/>
              </a:ext>
            </a:extLst>
          </p:cNvPr>
          <p:cNvSpPr/>
          <p:nvPr/>
        </p:nvSpPr>
        <p:spPr>
          <a:xfrm rot="10800000">
            <a:off x="0" y="644617"/>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7" name="Title 1">
            <a:extLst>
              <a:ext uri="{FF2B5EF4-FFF2-40B4-BE49-F238E27FC236}">
                <a16:creationId xmlns:a16="http://schemas.microsoft.com/office/drawing/2014/main" id="{FF9CB203-FAFB-A81C-8FC9-6AB0A0C2DD72}"/>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pic>
        <p:nvPicPr>
          <p:cNvPr id="16" name="Picture 4" descr="Astrosage Company Profile Funding ...">
            <a:extLst>
              <a:ext uri="{FF2B5EF4-FFF2-40B4-BE49-F238E27FC236}">
                <a16:creationId xmlns:a16="http://schemas.microsoft.com/office/drawing/2014/main" id="{7C54F026-F687-A408-6EE3-587E037425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Chart 1">
            <a:extLst>
              <a:ext uri="{FF2B5EF4-FFF2-40B4-BE49-F238E27FC236}">
                <a16:creationId xmlns:a16="http://schemas.microsoft.com/office/drawing/2014/main" id="{77BC6A67-7A96-4530-8DCE-CE68637DE420}"/>
              </a:ext>
            </a:extLst>
          </p:cNvPr>
          <p:cNvGraphicFramePr>
            <a:graphicFrameLocks/>
          </p:cNvGraphicFramePr>
          <p:nvPr>
            <p:extLst>
              <p:ext uri="{D42A27DB-BD31-4B8C-83A1-F6EECF244321}">
                <p14:modId xmlns:p14="http://schemas.microsoft.com/office/powerpoint/2010/main" val="895376727"/>
              </p:ext>
            </p:extLst>
          </p:nvPr>
        </p:nvGraphicFramePr>
        <p:xfrm>
          <a:off x="559423" y="1897729"/>
          <a:ext cx="4610330" cy="2667077"/>
        </p:xfrm>
        <a:graphic>
          <a:graphicData uri="http://schemas.openxmlformats.org/drawingml/2006/chart">
            <c:chart xmlns:c="http://schemas.openxmlformats.org/drawingml/2006/chart" xmlns:r="http://schemas.openxmlformats.org/officeDocument/2006/relationships" r:id="rId4"/>
          </a:graphicData>
        </a:graphic>
      </p:graphicFrame>
      <p:sp>
        <p:nvSpPr>
          <p:cNvPr id="3" name="Rectangle 1">
            <a:extLst>
              <a:ext uri="{FF2B5EF4-FFF2-40B4-BE49-F238E27FC236}">
                <a16:creationId xmlns:a16="http://schemas.microsoft.com/office/drawing/2014/main" id="{72A80B7B-68A9-680F-35B6-727D83BA120F}"/>
              </a:ext>
            </a:extLst>
          </p:cNvPr>
          <p:cNvSpPr>
            <a:spLocks noChangeArrowheads="1"/>
          </p:cNvSpPr>
          <p:nvPr/>
        </p:nvSpPr>
        <p:spPr bwMode="auto">
          <a:xfrm>
            <a:off x="5434617" y="249723"/>
            <a:ext cx="6471683"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distribution shows how users access services across different platforms.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majority of users prefer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Gurucool</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fewer use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 (28%)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almost none use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(0%)</a:t>
            </a:r>
            <a:r>
              <a:rPr lang="en-US" altLang="en-US" sz="2000" dirty="0">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indicates a strong user preference toward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Gurucool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platform for availing services.</a:t>
            </a:r>
          </a:p>
          <a:p>
            <a:pPr lvl="0" algn="just" eaLnBrk="0" fontAlgn="base" hangingPunct="0">
              <a:lnSpc>
                <a:spcPct val="150000"/>
              </a:lnSpc>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Resource Allocation:</a:t>
            </a:r>
            <a:r>
              <a:rPr lang="en-US" sz="2000" dirty="0">
                <a:latin typeface="Times New Roman" panose="02020603050405020304" pitchFamily="18" charset="0"/>
                <a:cs typeface="Times New Roman" panose="02020603050405020304" pitchFamily="18" charset="0"/>
              </a:rPr>
              <a:t> Assign more agents (gurus) to </a:t>
            </a:r>
            <a:r>
              <a:rPr lang="en-US" sz="2000" dirty="0" err="1">
                <a:latin typeface="Times New Roman" panose="02020603050405020304" pitchFamily="18" charset="0"/>
                <a:cs typeface="Times New Roman" panose="02020603050405020304" pitchFamily="18" charset="0"/>
              </a:rPr>
              <a:t>Gurucool</a:t>
            </a:r>
            <a:r>
              <a:rPr lang="en-US" sz="2000" dirty="0">
                <a:latin typeface="Times New Roman" panose="02020603050405020304" pitchFamily="18" charset="0"/>
                <a:cs typeface="Times New Roman" panose="02020603050405020304" pitchFamily="18" charset="0"/>
              </a:rPr>
              <a:t> since it handles the highest demand.</a:t>
            </a:r>
          </a:p>
          <a:p>
            <a:pPr algn="just" eaLnBrk="0" fontAlgn="base" hangingPunct="0">
              <a:lnSpc>
                <a:spcPct val="150000"/>
              </a:lnSpc>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Business Focus:</a:t>
            </a:r>
            <a:r>
              <a:rPr lang="en-US" sz="2000" dirty="0">
                <a:latin typeface="Times New Roman" panose="02020603050405020304" pitchFamily="18" charset="0"/>
                <a:cs typeface="Times New Roman" panose="02020603050405020304" pitchFamily="18" charset="0"/>
              </a:rPr>
              <a:t> Invest more in </a:t>
            </a:r>
            <a:r>
              <a:rPr lang="en-US" sz="2000" dirty="0" err="1">
                <a:latin typeface="Times New Roman" panose="02020603050405020304" pitchFamily="18" charset="0"/>
                <a:cs typeface="Times New Roman" panose="02020603050405020304" pitchFamily="18" charset="0"/>
              </a:rPr>
              <a:t>Gurucool</a:t>
            </a:r>
            <a:r>
              <a:rPr lang="en-US" sz="2000" dirty="0">
                <a:latin typeface="Times New Roman" panose="02020603050405020304" pitchFamily="18" charset="0"/>
                <a:cs typeface="Times New Roman" panose="02020603050405020304" pitchFamily="18" charset="0"/>
              </a:rPr>
              <a:t> platform enhancements as it drives maximum engagement.</a:t>
            </a:r>
          </a:p>
          <a:p>
            <a:pPr lvl="0" algn="just" eaLnBrk="0" fontAlgn="base" hangingPunct="0">
              <a:lnSpc>
                <a:spcPct val="15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6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0AAE6-C73D-57F1-2B75-7B87B57EB34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D77E798-B5C4-3816-1757-6C752E6BE285}"/>
              </a:ext>
            </a:extLst>
          </p:cNvPr>
          <p:cNvSpPr>
            <a:spLocks noGrp="1"/>
          </p:cNvSpPr>
          <p:nvPr>
            <p:ph type="sldNum" sz="quarter" idx="12"/>
          </p:nvPr>
        </p:nvSpPr>
        <p:spPr/>
        <p:txBody>
          <a:bodyPr/>
          <a:lstStyle/>
          <a:p>
            <a:fld id="{3C30CF92-A31B-4DB1-8729-0A0356E4B311}" type="slidenum">
              <a:rPr lang="en-US" smtClean="0"/>
              <a:t>6</a:t>
            </a:fld>
            <a:endParaRPr lang="en-US"/>
          </a:p>
        </p:txBody>
      </p:sp>
      <p:sp>
        <p:nvSpPr>
          <p:cNvPr id="6" name="Rectangle: Rounded Corners 5">
            <a:extLst>
              <a:ext uri="{FF2B5EF4-FFF2-40B4-BE49-F238E27FC236}">
                <a16:creationId xmlns:a16="http://schemas.microsoft.com/office/drawing/2014/main" id="{9148DEFA-E0F9-7A01-CAB1-22CFB6E6C9FA}"/>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pic>
        <p:nvPicPr>
          <p:cNvPr id="19" name="Picture 4" descr="Astrosage Company Profile Funding ...">
            <a:extLst>
              <a:ext uri="{FF2B5EF4-FFF2-40B4-BE49-F238E27FC236}">
                <a16:creationId xmlns:a16="http://schemas.microsoft.com/office/drawing/2014/main" id="{717BA444-537C-41C0-8D56-8811298EB4A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B6210F93-E8C0-67A4-2523-7A404C580A26}"/>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graphicFrame>
        <p:nvGraphicFramePr>
          <p:cNvPr id="4" name="Chart 3">
            <a:extLst>
              <a:ext uri="{FF2B5EF4-FFF2-40B4-BE49-F238E27FC236}">
                <a16:creationId xmlns:a16="http://schemas.microsoft.com/office/drawing/2014/main" id="{5E0F90DB-A683-9283-9101-695D9822A9EB}"/>
              </a:ext>
            </a:extLst>
          </p:cNvPr>
          <p:cNvGraphicFramePr>
            <a:graphicFrameLocks/>
          </p:cNvGraphicFramePr>
          <p:nvPr>
            <p:extLst>
              <p:ext uri="{D42A27DB-BD31-4B8C-83A1-F6EECF244321}">
                <p14:modId xmlns:p14="http://schemas.microsoft.com/office/powerpoint/2010/main" val="55539843"/>
              </p:ext>
            </p:extLst>
          </p:nvPr>
        </p:nvGraphicFramePr>
        <p:xfrm>
          <a:off x="217967" y="1908544"/>
          <a:ext cx="5048694" cy="3004055"/>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1C2D5156-5F90-7F0C-50A1-E0DF0CAE01AA}"/>
              </a:ext>
            </a:extLst>
          </p:cNvPr>
          <p:cNvSpPr txBox="1"/>
          <p:nvPr/>
        </p:nvSpPr>
        <p:spPr>
          <a:xfrm>
            <a:off x="5474439" y="1306245"/>
            <a:ext cx="6100430" cy="3730317"/>
          </a:xfrm>
          <a:prstGeom prst="rect">
            <a:avLst/>
          </a:prstGeom>
          <a:noFill/>
        </p:spPr>
        <p:txBody>
          <a:bodyPr wrap="square">
            <a:spAutoFit/>
          </a:bodyPr>
          <a:lstStyle/>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Revenue is heavily dominated by </a:t>
            </a:r>
            <a:r>
              <a:rPr lang="en-US" sz="2000" b="1" dirty="0">
                <a:latin typeface="Times New Roman" panose="02020603050405020304" pitchFamily="18" charset="0"/>
                <a:cs typeface="Times New Roman" panose="02020603050405020304" pitchFamily="18" charset="0"/>
              </a:rPr>
              <a:t>Call consultations</a:t>
            </a:r>
            <a:r>
              <a:rPr lang="en-US" sz="2000" dirty="0">
                <a:latin typeface="Times New Roman" panose="02020603050405020304" pitchFamily="18" charset="0"/>
                <a:cs typeface="Times New Roman" panose="02020603050405020304" pitchFamily="18" charset="0"/>
              </a:rPr>
              <a:t>, making it the primary revenue driver.</a:t>
            </a: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Chat contributes significantly less</a:t>
            </a:r>
            <a:r>
              <a:rPr lang="en-US" sz="2000" dirty="0">
                <a:latin typeface="Times New Roman" panose="02020603050405020304" pitchFamily="18" charset="0"/>
                <a:cs typeface="Times New Roman" panose="02020603050405020304" pitchFamily="18" charset="0"/>
              </a:rPr>
              <a:t>, while </a:t>
            </a:r>
            <a:r>
              <a:rPr lang="en-US" sz="2000" b="1" dirty="0">
                <a:latin typeface="Times New Roman" panose="02020603050405020304" pitchFamily="18" charset="0"/>
                <a:cs typeface="Times New Roman" panose="02020603050405020304" pitchFamily="18" charset="0"/>
              </a:rPr>
              <a:t>public live calls generate negligible or no revenue.</a:t>
            </a: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High-value channel:</a:t>
            </a:r>
            <a:r>
              <a:rPr lang="en-US" sz="2000" dirty="0">
                <a:latin typeface="Times New Roman" panose="02020603050405020304" pitchFamily="18" charset="0"/>
                <a:cs typeface="Times New Roman" panose="02020603050405020304" pitchFamily="18" charset="0"/>
              </a:rPr>
              <a:t> Call services generate the majority of revenue → customers prefer personalized interaction.</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chat as a funnel → convert users into higher-value call consultations.</a:t>
            </a:r>
          </a:p>
        </p:txBody>
      </p:sp>
    </p:spTree>
    <p:extLst>
      <p:ext uri="{BB962C8B-B14F-4D97-AF65-F5344CB8AC3E}">
        <p14:creationId xmlns:p14="http://schemas.microsoft.com/office/powerpoint/2010/main" val="69619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36F5C-FD10-C914-1EB3-405075FBAAC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0D74CC3-174B-A329-7EFC-55624EA9EDBA}"/>
              </a:ext>
            </a:extLst>
          </p:cNvPr>
          <p:cNvSpPr>
            <a:spLocks noGrp="1"/>
          </p:cNvSpPr>
          <p:nvPr>
            <p:ph type="sldNum" sz="quarter" idx="12"/>
          </p:nvPr>
        </p:nvSpPr>
        <p:spPr/>
        <p:txBody>
          <a:bodyPr/>
          <a:lstStyle/>
          <a:p>
            <a:fld id="{3C30CF92-A31B-4DB1-8729-0A0356E4B311}" type="slidenum">
              <a:rPr lang="en-US" smtClean="0"/>
              <a:t>7</a:t>
            </a:fld>
            <a:endParaRPr lang="en-US"/>
          </a:p>
        </p:txBody>
      </p:sp>
      <p:sp>
        <p:nvSpPr>
          <p:cNvPr id="6" name="Rectangle: Rounded Corners 5">
            <a:extLst>
              <a:ext uri="{FF2B5EF4-FFF2-40B4-BE49-F238E27FC236}">
                <a16:creationId xmlns:a16="http://schemas.microsoft.com/office/drawing/2014/main" id="{134B8BF3-E356-A694-F89B-D3C3C3B937FB}"/>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pic>
        <p:nvPicPr>
          <p:cNvPr id="20" name="Picture 4" descr="Astrosage Company Profile Funding ...">
            <a:extLst>
              <a:ext uri="{FF2B5EF4-FFF2-40B4-BE49-F238E27FC236}">
                <a16:creationId xmlns:a16="http://schemas.microsoft.com/office/drawing/2014/main" id="{CDCA57A4-DEAB-B4E2-66F5-189BD1C095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D2297A9-2D16-4634-A0A0-5FE14CF1A24C}"/>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graphicFrame>
        <p:nvGraphicFramePr>
          <p:cNvPr id="3" name="Chart 2">
            <a:extLst>
              <a:ext uri="{FF2B5EF4-FFF2-40B4-BE49-F238E27FC236}">
                <a16:creationId xmlns:a16="http://schemas.microsoft.com/office/drawing/2014/main" id="{E8788E2E-CD27-4720-BDE7-51FBCD92D9E3}"/>
              </a:ext>
            </a:extLst>
          </p:cNvPr>
          <p:cNvGraphicFramePr>
            <a:graphicFrameLocks/>
          </p:cNvGraphicFramePr>
          <p:nvPr>
            <p:extLst>
              <p:ext uri="{D42A27DB-BD31-4B8C-83A1-F6EECF244321}">
                <p14:modId xmlns:p14="http://schemas.microsoft.com/office/powerpoint/2010/main" val="3616142444"/>
              </p:ext>
            </p:extLst>
          </p:nvPr>
        </p:nvGraphicFramePr>
        <p:xfrm>
          <a:off x="232148" y="1584251"/>
          <a:ext cx="5185140" cy="3099263"/>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7F94EE71-6F79-08BA-C867-B45DEEC2C0ED}"/>
              </a:ext>
            </a:extLst>
          </p:cNvPr>
          <p:cNvSpPr txBox="1"/>
          <p:nvPr/>
        </p:nvSpPr>
        <p:spPr>
          <a:xfrm>
            <a:off x="5703039" y="993644"/>
            <a:ext cx="6100430" cy="498598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Call volume increases from early morning and </a:t>
            </a:r>
            <a:r>
              <a:rPr lang="en-US" sz="2000" b="1" dirty="0">
                <a:latin typeface="Times New Roman" panose="02020603050405020304" pitchFamily="18" charset="0"/>
                <a:cs typeface="Times New Roman" panose="02020603050405020304" pitchFamily="18" charset="0"/>
              </a:rPr>
              <a:t>peaks between 6 AM – 10 AM and 2 PM – 5 PM.</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Call activity drops significantly during </a:t>
            </a:r>
            <a:r>
              <a:rPr lang="en-US" sz="2000" b="1" dirty="0">
                <a:latin typeface="Times New Roman" panose="02020603050405020304" pitchFamily="18" charset="0"/>
                <a:cs typeface="Times New Roman" panose="02020603050405020304" pitchFamily="18" charset="0"/>
              </a:rPr>
              <a:t>late evening and night hours (after 7 PM).</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Peak demand windows:</a:t>
            </a:r>
            <a:r>
              <a:rPr lang="en-US" sz="2000" dirty="0">
                <a:latin typeface="Times New Roman" panose="02020603050405020304" pitchFamily="18" charset="0"/>
                <a:cs typeface="Times New Roman" panose="02020603050405020304" pitchFamily="18" charset="0"/>
              </a:rPr>
              <a:t> Morning and afternoon are high-load periods → maximum customer activity. </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Low utilization periods:</a:t>
            </a:r>
            <a:r>
              <a:rPr lang="en-US" sz="2000" dirty="0">
                <a:latin typeface="Times New Roman" panose="02020603050405020304" pitchFamily="18" charset="0"/>
                <a:cs typeface="Times New Roman" panose="02020603050405020304" pitchFamily="18" charset="0"/>
              </a:rPr>
              <a:t> Night hours have very low call volume → resources may be underutilized.</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Allocate more agents during peak hours (6–10 AM, 2–5 PM) and reduce staffing at night.</a:t>
            </a:r>
          </a:p>
          <a:p>
            <a:pPr algn="just">
              <a:buFont typeface="Arial" panose="020B0604020202020204" pitchFamily="34" charset="0"/>
              <a:buChar char="•"/>
            </a:pPr>
            <a:endParaRPr lang="en-US" dirty="0"/>
          </a:p>
        </p:txBody>
      </p:sp>
    </p:spTree>
    <p:extLst>
      <p:ext uri="{BB962C8B-B14F-4D97-AF65-F5344CB8AC3E}">
        <p14:creationId xmlns:p14="http://schemas.microsoft.com/office/powerpoint/2010/main" val="399392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1F31412-9518-6864-46A3-512DD69C2219}"/>
              </a:ext>
            </a:extLst>
          </p:cNvPr>
          <p:cNvSpPr>
            <a:spLocks noGrp="1"/>
          </p:cNvSpPr>
          <p:nvPr>
            <p:ph type="sldNum" sz="quarter" idx="12"/>
          </p:nvPr>
        </p:nvSpPr>
        <p:spPr/>
        <p:txBody>
          <a:bodyPr/>
          <a:lstStyle/>
          <a:p>
            <a:fld id="{3C30CF92-A31B-4DB1-8729-0A0356E4B311}" type="slidenum">
              <a:rPr lang="en-US" smtClean="0"/>
              <a:t>8</a:t>
            </a:fld>
            <a:endParaRPr lang="en-US"/>
          </a:p>
        </p:txBody>
      </p:sp>
      <p:sp>
        <p:nvSpPr>
          <p:cNvPr id="6" name="Rectangle: Rounded Corners 5">
            <a:extLst>
              <a:ext uri="{FF2B5EF4-FFF2-40B4-BE49-F238E27FC236}">
                <a16:creationId xmlns:a16="http://schemas.microsoft.com/office/drawing/2014/main" id="{56033C81-4137-35BE-8A67-3F04FD9A6A0F}"/>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pic>
        <p:nvPicPr>
          <p:cNvPr id="25" name="Picture 4" descr="Astrosage Company Profile Funding ...">
            <a:extLst>
              <a:ext uri="{FF2B5EF4-FFF2-40B4-BE49-F238E27FC236}">
                <a16:creationId xmlns:a16="http://schemas.microsoft.com/office/drawing/2014/main" id="{E4151161-185B-CFF7-87B9-E6C57713D0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D6AC484-160F-5F30-0706-3360A65D15A4}"/>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sp>
        <p:nvSpPr>
          <p:cNvPr id="3" name="Rectangle 1">
            <a:extLst>
              <a:ext uri="{FF2B5EF4-FFF2-40B4-BE49-F238E27FC236}">
                <a16:creationId xmlns:a16="http://schemas.microsoft.com/office/drawing/2014/main" id="{14301F7F-F838-6EB1-7271-98FF45FE64E1}"/>
              </a:ext>
            </a:extLst>
          </p:cNvPr>
          <p:cNvSpPr>
            <a:spLocks noChangeArrowheads="1"/>
          </p:cNvSpPr>
          <p:nvPr/>
        </p:nvSpPr>
        <p:spPr bwMode="auto">
          <a:xfrm>
            <a:off x="5266661" y="697539"/>
            <a:ext cx="667370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Call volume shows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fluctuating trends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noticeable dip in the first week and a peak around mid-month (~1300+).</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Towards the end of the month, call volume becomes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unstable with sharp drops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indicating inconsistent demand.</a:t>
            </a:r>
          </a:p>
          <a:p>
            <a:pPr lvl="0" algn="just" eaLnBrk="0" fontAlgn="base" hangingPunct="0">
              <a:lnSpc>
                <a:spcPct val="150000"/>
              </a:lnSpc>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Mid-month surge:</a:t>
            </a:r>
            <a:r>
              <a:rPr lang="en-US" sz="2000" dirty="0">
                <a:latin typeface="Times New Roman" panose="02020603050405020304" pitchFamily="18" charset="0"/>
                <a:cs typeface="Times New Roman" panose="02020603050405020304" pitchFamily="18" charset="0"/>
              </a:rPr>
              <a:t> Higher engagement during the middle of the month → possible link to user behavior (salary cycle, offers, or demand spikes).</a:t>
            </a:r>
          </a:p>
          <a:p>
            <a:pPr lvl="0" algn="just" eaLnBrk="0" fontAlgn="base" hangingPunct="0">
              <a:lnSpc>
                <a:spcPct val="15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Prepare for mid-month spikes by increasing agent availability in advance.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A5D63A3F-99EC-4C86-B968-793E574272AE}"/>
              </a:ext>
            </a:extLst>
          </p:cNvPr>
          <p:cNvGraphicFramePr>
            <a:graphicFrameLocks/>
          </p:cNvGraphicFramePr>
          <p:nvPr>
            <p:extLst>
              <p:ext uri="{D42A27DB-BD31-4B8C-83A1-F6EECF244321}">
                <p14:modId xmlns:p14="http://schemas.microsoft.com/office/powerpoint/2010/main" val="2459447792"/>
              </p:ext>
            </p:extLst>
          </p:nvPr>
        </p:nvGraphicFramePr>
        <p:xfrm>
          <a:off x="102781" y="1711842"/>
          <a:ext cx="4974266" cy="317767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2442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CD845-5081-4301-60DA-A356ADDCB91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4E19ADD-E25E-CB42-0D6F-6A970ABF4944}"/>
              </a:ext>
            </a:extLst>
          </p:cNvPr>
          <p:cNvSpPr>
            <a:spLocks noGrp="1"/>
          </p:cNvSpPr>
          <p:nvPr>
            <p:ph type="sldNum" sz="quarter" idx="12"/>
          </p:nvPr>
        </p:nvSpPr>
        <p:spPr/>
        <p:txBody>
          <a:bodyPr/>
          <a:lstStyle/>
          <a:p>
            <a:fld id="{3C30CF92-A31B-4DB1-8729-0A0356E4B311}" type="slidenum">
              <a:rPr lang="en-US" smtClean="0"/>
              <a:t>9</a:t>
            </a:fld>
            <a:endParaRPr lang="en-US"/>
          </a:p>
        </p:txBody>
      </p:sp>
      <p:sp>
        <p:nvSpPr>
          <p:cNvPr id="6" name="Rectangle: Rounded Corners 5">
            <a:extLst>
              <a:ext uri="{FF2B5EF4-FFF2-40B4-BE49-F238E27FC236}">
                <a16:creationId xmlns:a16="http://schemas.microsoft.com/office/drawing/2014/main" id="{3A05441D-6FE0-252E-F9A8-EF2007314014}"/>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pic>
        <p:nvPicPr>
          <p:cNvPr id="15" name="Picture 4" descr="Astrosage Company Profile Funding ...">
            <a:extLst>
              <a:ext uri="{FF2B5EF4-FFF2-40B4-BE49-F238E27FC236}">
                <a16:creationId xmlns:a16="http://schemas.microsoft.com/office/drawing/2014/main" id="{ACFED9FC-9322-33AC-4FDB-6FC70B5608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351FC5-5B8B-8B4D-7FA9-3832D89E0F15}"/>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sp>
        <p:nvSpPr>
          <p:cNvPr id="7" name="TextBox 6">
            <a:extLst>
              <a:ext uri="{FF2B5EF4-FFF2-40B4-BE49-F238E27FC236}">
                <a16:creationId xmlns:a16="http://schemas.microsoft.com/office/drawing/2014/main" id="{020A4DCD-1AA0-A0AA-9F42-6E401DC2FD78}"/>
              </a:ext>
            </a:extLst>
          </p:cNvPr>
          <p:cNvSpPr txBox="1"/>
          <p:nvPr/>
        </p:nvSpPr>
        <p:spPr>
          <a:xfrm>
            <a:off x="5357480" y="1140617"/>
            <a:ext cx="6100430" cy="4191981"/>
          </a:xfrm>
          <a:prstGeom prst="rect">
            <a:avLst/>
          </a:prstGeom>
          <a:noFill/>
        </p:spPr>
        <p:txBody>
          <a:bodyPr wrap="square">
            <a:spAutoFit/>
          </a:bodyPr>
          <a:lstStyle/>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large number of users have given a </a:t>
            </a:r>
            <a:r>
              <a:rPr lang="en-US" sz="2000" b="1" dirty="0">
                <a:latin typeface="Times New Roman" panose="02020603050405020304" pitchFamily="18" charset="0"/>
                <a:cs typeface="Times New Roman" panose="02020603050405020304" pitchFamily="18" charset="0"/>
              </a:rPr>
              <a:t>rating of 0</a:t>
            </a:r>
            <a:r>
              <a:rPr lang="en-US" sz="2000" dirty="0">
                <a:latin typeface="Times New Roman" panose="02020603050405020304" pitchFamily="18" charset="0"/>
                <a:cs typeface="Times New Roman" panose="02020603050405020304" pitchFamily="18" charset="0"/>
              </a:rPr>
              <a:t>, indicating missing feedback or poor experience.</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ratings are concentrated between </a:t>
            </a:r>
            <a:r>
              <a:rPr lang="en-US" sz="2000" b="1" dirty="0">
                <a:latin typeface="Times New Roman" panose="02020603050405020304" pitchFamily="18" charset="0"/>
                <a:cs typeface="Times New Roman" panose="02020603050405020304" pitchFamily="18" charset="0"/>
              </a:rPr>
              <a:t>2–3</a:t>
            </a:r>
            <a:r>
              <a:rPr lang="en-US" sz="2000" dirty="0">
                <a:latin typeface="Times New Roman" panose="02020603050405020304" pitchFamily="18" charset="0"/>
                <a:cs typeface="Times New Roman" panose="02020603050405020304" pitchFamily="18" charset="0"/>
              </a:rPr>
              <a:t>, while higher ratings (6–8) are relatively low.</a:t>
            </a: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Customer dissatisfaction / no feedback issue:</a:t>
            </a:r>
            <a:r>
              <a:rPr lang="en-US" sz="2000" dirty="0">
                <a:latin typeface="Times New Roman" panose="02020603050405020304" pitchFamily="18" charset="0"/>
                <a:cs typeface="Times New Roman" panose="02020603050405020304" pitchFamily="18" charset="0"/>
              </a:rPr>
              <a:t> High count at 0 suggests users are either not rating or are disengaged.</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 on improving service quality to shift users from low ratings (2–3) to higher ratings.</a:t>
            </a:r>
          </a:p>
        </p:txBody>
      </p:sp>
      <p:graphicFrame>
        <p:nvGraphicFramePr>
          <p:cNvPr id="8" name="Chart 7">
            <a:extLst>
              <a:ext uri="{FF2B5EF4-FFF2-40B4-BE49-F238E27FC236}">
                <a16:creationId xmlns:a16="http://schemas.microsoft.com/office/drawing/2014/main" id="{B3A648AE-20B8-4E40-9686-F01F172C81F5}"/>
              </a:ext>
            </a:extLst>
          </p:cNvPr>
          <p:cNvGraphicFramePr>
            <a:graphicFrameLocks/>
          </p:cNvGraphicFramePr>
          <p:nvPr>
            <p:extLst>
              <p:ext uri="{D42A27DB-BD31-4B8C-83A1-F6EECF244321}">
                <p14:modId xmlns:p14="http://schemas.microsoft.com/office/powerpoint/2010/main" val="2908294734"/>
              </p:ext>
            </p:extLst>
          </p:nvPr>
        </p:nvGraphicFramePr>
        <p:xfrm>
          <a:off x="242782" y="1605517"/>
          <a:ext cx="4866163" cy="32409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38408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E7B5-B5A5-E849-CFA5-360977F7A57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4BDE913-1C3A-18CD-A205-657870BECA71}"/>
              </a:ext>
            </a:extLst>
          </p:cNvPr>
          <p:cNvSpPr>
            <a:spLocks noGrp="1"/>
          </p:cNvSpPr>
          <p:nvPr>
            <p:ph type="sldNum" sz="quarter" idx="12"/>
          </p:nvPr>
        </p:nvSpPr>
        <p:spPr/>
        <p:txBody>
          <a:bodyPr/>
          <a:lstStyle/>
          <a:p>
            <a:fld id="{3C30CF92-A31B-4DB1-8729-0A0356E4B311}" type="slidenum">
              <a:rPr lang="en-US" smtClean="0"/>
              <a:t>10</a:t>
            </a:fld>
            <a:endParaRPr lang="en-US"/>
          </a:p>
        </p:txBody>
      </p:sp>
      <p:sp>
        <p:nvSpPr>
          <p:cNvPr id="6" name="Rectangle: Rounded Corners 5">
            <a:extLst>
              <a:ext uri="{FF2B5EF4-FFF2-40B4-BE49-F238E27FC236}">
                <a16:creationId xmlns:a16="http://schemas.microsoft.com/office/drawing/2014/main" id="{0EC596B4-6528-5F1F-9F3B-8C83D1E8793D}"/>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pic>
        <p:nvPicPr>
          <p:cNvPr id="15" name="Picture 4" descr="Astrosage Company Profile Funding ...">
            <a:extLst>
              <a:ext uri="{FF2B5EF4-FFF2-40B4-BE49-F238E27FC236}">
                <a16:creationId xmlns:a16="http://schemas.microsoft.com/office/drawing/2014/main" id="{3BB7F57F-46DD-4A45-1FBD-780CDA876F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293D70A7-818C-9988-4537-51C09001ECD4}"/>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ANALYSIS</a:t>
            </a:r>
          </a:p>
        </p:txBody>
      </p:sp>
      <p:graphicFrame>
        <p:nvGraphicFramePr>
          <p:cNvPr id="8" name="Chart 7">
            <a:extLst>
              <a:ext uri="{FF2B5EF4-FFF2-40B4-BE49-F238E27FC236}">
                <a16:creationId xmlns:a16="http://schemas.microsoft.com/office/drawing/2014/main" id="{4C85A592-628D-4503-B323-29319D6FE049}"/>
              </a:ext>
            </a:extLst>
          </p:cNvPr>
          <p:cNvGraphicFramePr>
            <a:graphicFrameLocks/>
          </p:cNvGraphicFramePr>
          <p:nvPr>
            <p:extLst>
              <p:ext uri="{D42A27DB-BD31-4B8C-83A1-F6EECF244321}">
                <p14:modId xmlns:p14="http://schemas.microsoft.com/office/powerpoint/2010/main" val="3699698439"/>
              </p:ext>
            </p:extLst>
          </p:nvPr>
        </p:nvGraphicFramePr>
        <p:xfrm>
          <a:off x="162255" y="1927875"/>
          <a:ext cx="4881900" cy="2917189"/>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E5A5A8ED-7D6E-1209-9366-BD0FE071C256}"/>
              </a:ext>
            </a:extLst>
          </p:cNvPr>
          <p:cNvSpPr txBox="1"/>
          <p:nvPr/>
        </p:nvSpPr>
        <p:spPr>
          <a:xfrm>
            <a:off x="5560385" y="1077122"/>
            <a:ext cx="6100430" cy="4191981"/>
          </a:xfrm>
          <a:prstGeom prst="rect">
            <a:avLst/>
          </a:prstGeom>
          <a:noFill/>
        </p:spPr>
        <p:txBody>
          <a:bodyPr wrap="square">
            <a:spAutoFit/>
          </a:bodyPr>
          <a:lstStyle/>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significant number of gurus have a </a:t>
            </a:r>
            <a:r>
              <a:rPr lang="en-US" sz="2000" b="1" dirty="0">
                <a:latin typeface="Times New Roman" panose="02020603050405020304" pitchFamily="18" charset="0"/>
                <a:cs typeface="Times New Roman" panose="02020603050405020304" pitchFamily="18" charset="0"/>
              </a:rPr>
              <a:t>rating of 0</a:t>
            </a:r>
            <a:r>
              <a:rPr lang="en-US" sz="2000" dirty="0">
                <a:latin typeface="Times New Roman" panose="02020603050405020304" pitchFamily="18" charset="0"/>
                <a:cs typeface="Times New Roman" panose="02020603050405020304" pitchFamily="18" charset="0"/>
              </a:rPr>
              <a:t>, indicating missing ratings or unassessed performance.</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gurus fall within the </a:t>
            </a:r>
            <a:r>
              <a:rPr lang="en-US" sz="2000" b="1" dirty="0">
                <a:latin typeface="Times New Roman" panose="02020603050405020304" pitchFamily="18" charset="0"/>
                <a:cs typeface="Times New Roman" panose="02020603050405020304" pitchFamily="18" charset="0"/>
              </a:rPr>
              <a:t>2–3 rating range</a:t>
            </a:r>
            <a:r>
              <a:rPr lang="en-US" sz="2000" dirty="0">
                <a:latin typeface="Times New Roman" panose="02020603050405020304" pitchFamily="18" charset="0"/>
                <a:cs typeface="Times New Roman" panose="02020603050405020304" pitchFamily="18" charset="0"/>
              </a:rPr>
              <a:t>, with relatively fewer in higher rating bands (6–8).</a:t>
            </a: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 visibility gap:</a:t>
            </a:r>
            <a:r>
              <a:rPr lang="en-US" sz="2000" dirty="0">
                <a:latin typeface="Times New Roman" panose="02020603050405020304" pitchFamily="18" charset="0"/>
                <a:cs typeface="Times New Roman" panose="02020603050405020304" pitchFamily="18" charset="0"/>
              </a:rPr>
              <a:t> High 0 ratings suggest many gurus are not being evaluated → lack of proper tracking.</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every consultation is rated to eliminate 0-rating gaps.</a:t>
            </a:r>
          </a:p>
        </p:txBody>
      </p:sp>
    </p:spTree>
    <p:extLst>
      <p:ext uri="{BB962C8B-B14F-4D97-AF65-F5344CB8AC3E}">
        <p14:creationId xmlns:p14="http://schemas.microsoft.com/office/powerpoint/2010/main" val="279930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D386-D2EC-D0E8-6825-DB4A31427B7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823E9A4-4505-C004-3D28-C7B2E96B9A2F}"/>
              </a:ext>
            </a:extLst>
          </p:cNvPr>
          <p:cNvSpPr>
            <a:spLocks noGrp="1"/>
          </p:cNvSpPr>
          <p:nvPr>
            <p:ph type="sldNum" sz="quarter" idx="12"/>
          </p:nvPr>
        </p:nvSpPr>
        <p:spPr/>
        <p:txBody>
          <a:bodyPr/>
          <a:lstStyle/>
          <a:p>
            <a:fld id="{3C30CF92-A31B-4DB1-8729-0A0356E4B311}" type="slidenum">
              <a:rPr lang="en-US" smtClean="0"/>
              <a:t>11</a:t>
            </a:fld>
            <a:endParaRPr lang="en-US"/>
          </a:p>
        </p:txBody>
      </p:sp>
      <p:sp>
        <p:nvSpPr>
          <p:cNvPr id="6" name="Rectangle: Rounded Corners 5">
            <a:extLst>
              <a:ext uri="{FF2B5EF4-FFF2-40B4-BE49-F238E27FC236}">
                <a16:creationId xmlns:a16="http://schemas.microsoft.com/office/drawing/2014/main" id="{13EA1898-AE58-85C0-2FDB-F8E4A3232830}"/>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7" name="Title 1">
            <a:extLst>
              <a:ext uri="{FF2B5EF4-FFF2-40B4-BE49-F238E27FC236}">
                <a16:creationId xmlns:a16="http://schemas.microsoft.com/office/drawing/2014/main" id="{FA86CEE1-3CFA-5F47-ED6E-DACD39A60114}"/>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Strategic Recommendations</a:t>
            </a:r>
          </a:p>
        </p:txBody>
      </p:sp>
      <p:sp>
        <p:nvSpPr>
          <p:cNvPr id="2" name="TextBox 1">
            <a:extLst>
              <a:ext uri="{FF2B5EF4-FFF2-40B4-BE49-F238E27FC236}">
                <a16:creationId xmlns:a16="http://schemas.microsoft.com/office/drawing/2014/main" id="{4C546442-884A-88E2-6684-2AD7FD041481}"/>
              </a:ext>
            </a:extLst>
          </p:cNvPr>
          <p:cNvSpPr txBox="1"/>
          <p:nvPr/>
        </p:nvSpPr>
        <p:spPr>
          <a:xfrm>
            <a:off x="542365" y="739724"/>
            <a:ext cx="11107270" cy="584775"/>
          </a:xfrm>
          <a:prstGeom prst="rect">
            <a:avLst/>
          </a:prstGeom>
          <a:noFill/>
        </p:spPr>
        <p:txBody>
          <a:bodyPr wrap="square" rtlCol="0">
            <a:spAutoFit/>
          </a:bodyPr>
          <a:lstStyle/>
          <a:p>
            <a:r>
              <a:rPr lang="en-US" sz="3200" b="1" dirty="0">
                <a:solidFill>
                  <a:srgbClr val="FF5050"/>
                </a:solidFill>
                <a:latin typeface="Times New Roman" panose="02020603050405020304" pitchFamily="18" charset="0"/>
                <a:cs typeface="Times New Roman" panose="02020603050405020304" pitchFamily="18" charset="0"/>
              </a:rPr>
              <a:t>According to my analysis the recommendation are as follows:-</a:t>
            </a:r>
          </a:p>
        </p:txBody>
      </p:sp>
      <p:sp>
        <p:nvSpPr>
          <p:cNvPr id="4" name="TextBox 3">
            <a:extLst>
              <a:ext uri="{FF2B5EF4-FFF2-40B4-BE49-F238E27FC236}">
                <a16:creationId xmlns:a16="http://schemas.microsoft.com/office/drawing/2014/main" id="{369709DB-A8B7-7FD3-C42A-9C7788C61723}"/>
              </a:ext>
            </a:extLst>
          </p:cNvPr>
          <p:cNvSpPr txBox="1"/>
          <p:nvPr/>
        </p:nvSpPr>
        <p:spPr>
          <a:xfrm>
            <a:off x="676836" y="1324499"/>
            <a:ext cx="10972799" cy="880369"/>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p:txBody>
      </p:sp>
      <p:pic>
        <p:nvPicPr>
          <p:cNvPr id="8" name="Picture 4" descr="Astrosage Company Profile Funding ...">
            <a:extLst>
              <a:ext uri="{FF2B5EF4-FFF2-40B4-BE49-F238E27FC236}">
                <a16:creationId xmlns:a16="http://schemas.microsoft.com/office/drawing/2014/main" id="{094A00A5-66FD-2791-D991-712274F3EC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797E1EEB-F8C3-EDAB-E9E7-9BDA2BB692BF}"/>
              </a:ext>
            </a:extLst>
          </p:cNvPr>
          <p:cNvSpPr>
            <a:spLocks noChangeArrowheads="1"/>
          </p:cNvSpPr>
          <p:nvPr/>
        </p:nvSpPr>
        <p:spPr bwMode="auto">
          <a:xfrm>
            <a:off x="584894" y="884537"/>
            <a:ext cx="11382050" cy="487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lang="en-US" altLang="en-US" dirty="0">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need to hire new agents; focus on improving existing workforce efficiency.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regular training and evaluate agent performance based on ratings.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Distribute agents effectively during peak periods to prevent burnout.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Invest in improving call services to reduce missed, busy, or incomplete calls.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Shift focus from saturated chat support to call services for better revenue      opportunities.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call interactions to promote complementary services and increase conversions.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proper monitoring systems to track and improve agent performance.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Invest in AI chatbots to enhance operational efficiency and support. </a:t>
            </a:r>
          </a:p>
        </p:txBody>
      </p:sp>
    </p:spTree>
    <p:extLst>
      <p:ext uri="{BB962C8B-B14F-4D97-AF65-F5344CB8AC3E}">
        <p14:creationId xmlns:p14="http://schemas.microsoft.com/office/powerpoint/2010/main" val="2901415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BB67-9407-6938-1832-DBFF2A75E1B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94D6C3C-901C-5B89-7489-616D76E986B4}"/>
              </a:ext>
            </a:extLst>
          </p:cNvPr>
          <p:cNvSpPr>
            <a:spLocks noGrp="1"/>
          </p:cNvSpPr>
          <p:nvPr>
            <p:ph type="sldNum" sz="quarter" idx="12"/>
          </p:nvPr>
        </p:nvSpPr>
        <p:spPr/>
        <p:txBody>
          <a:bodyPr/>
          <a:lstStyle/>
          <a:p>
            <a:fld id="{3C30CF92-A31B-4DB1-8729-0A0356E4B311}" type="slidenum">
              <a:rPr lang="en-US" smtClean="0"/>
              <a:t>12</a:t>
            </a:fld>
            <a:endParaRPr lang="en-US"/>
          </a:p>
        </p:txBody>
      </p:sp>
      <p:sp>
        <p:nvSpPr>
          <p:cNvPr id="6" name="Rectangle: Rounded Corners 5">
            <a:extLst>
              <a:ext uri="{FF2B5EF4-FFF2-40B4-BE49-F238E27FC236}">
                <a16:creationId xmlns:a16="http://schemas.microsoft.com/office/drawing/2014/main" id="{EEBA0DA0-40EF-D9B2-330E-E013776933C3}"/>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7" name="Title 1">
            <a:extLst>
              <a:ext uri="{FF2B5EF4-FFF2-40B4-BE49-F238E27FC236}">
                <a16:creationId xmlns:a16="http://schemas.microsoft.com/office/drawing/2014/main" id="{C3DD26F1-4816-FB93-2F66-362B882B6845}"/>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Dashboard And Visualizations</a:t>
            </a:r>
          </a:p>
        </p:txBody>
      </p:sp>
      <p:pic>
        <p:nvPicPr>
          <p:cNvPr id="3" name="Picture 4" descr="Astrosage Company Profile Funding ...">
            <a:extLst>
              <a:ext uri="{FF2B5EF4-FFF2-40B4-BE49-F238E27FC236}">
                <a16:creationId xmlns:a16="http://schemas.microsoft.com/office/drawing/2014/main" id="{81D05370-637E-B7FB-2F9C-BB669CDBB0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628" b="22756"/>
          <a:stretch>
            <a:fillRect/>
          </a:stretch>
        </p:blipFill>
        <p:spPr bwMode="auto">
          <a:xfrm>
            <a:off x="5255619" y="5831609"/>
            <a:ext cx="1658678" cy="98882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a:extLst>
              <a:ext uri="{FF2B5EF4-FFF2-40B4-BE49-F238E27FC236}">
                <a16:creationId xmlns:a16="http://schemas.microsoft.com/office/drawing/2014/main" id="{2EAC2D54-4F11-92CD-8510-C990D196E1A8}"/>
              </a:ext>
            </a:extLst>
          </p:cNvPr>
          <p:cNvSpPr>
            <a:spLocks noChangeArrowheads="1"/>
          </p:cNvSpPr>
          <p:nvPr/>
        </p:nvSpPr>
        <p:spPr bwMode="auto">
          <a:xfrm>
            <a:off x="7305520" y="898470"/>
            <a:ext cx="433963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The dashboard gives an overall view of </a:t>
            </a:r>
            <a:r>
              <a:rPr lang="en-US" altLang="en-US" sz="2000" b="1" dirty="0">
                <a:solidFill>
                  <a:srgbClr val="002060"/>
                </a:solidFill>
                <a:latin typeface="Times New Roman" panose="02020603050405020304" pitchFamily="18" charset="0"/>
                <a:cs typeface="Times New Roman" panose="02020603050405020304" pitchFamily="18" charset="0"/>
              </a:rPr>
              <a:t>daily revenue, session status, </a:t>
            </a: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top rated guru and much more analysis </a:t>
            </a:r>
            <a:r>
              <a:rPr lang="en-US" altLang="en-US" sz="2000" b="1" dirty="0">
                <a:solidFill>
                  <a:srgbClr val="002060"/>
                </a:solidFill>
                <a:latin typeface="Times New Roman" panose="02020603050405020304" pitchFamily="18" charset="0"/>
                <a:cs typeface="Times New Roman" panose="02020603050405020304" pitchFamily="18" charset="0"/>
              </a:rPr>
              <a:t>at</a:t>
            </a: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one place.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It shows region-wise call distribution, highlighting where most customer demand comes from.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Guru-wise revenue analysis helps identify top-performing and high-earning gurus.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Year-wise monthly trends reveal growth patterns and demand changes over 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Average ratings help track customer satisfaction and service quality.</a:t>
            </a:r>
          </a:p>
        </p:txBody>
      </p:sp>
      <p:pic>
        <p:nvPicPr>
          <p:cNvPr id="4" name="Picture 3">
            <a:extLst>
              <a:ext uri="{FF2B5EF4-FFF2-40B4-BE49-F238E27FC236}">
                <a16:creationId xmlns:a16="http://schemas.microsoft.com/office/drawing/2014/main" id="{2245ABC7-EA74-FC0C-0EB0-6C4AF6168322}"/>
              </a:ext>
            </a:extLst>
          </p:cNvPr>
          <p:cNvPicPr>
            <a:picLocks noChangeAspect="1"/>
          </p:cNvPicPr>
          <p:nvPr/>
        </p:nvPicPr>
        <p:blipFill>
          <a:blip r:embed="rId4"/>
          <a:stretch>
            <a:fillRect/>
          </a:stretch>
        </p:blipFill>
        <p:spPr>
          <a:xfrm>
            <a:off x="351293" y="823185"/>
            <a:ext cx="6796092" cy="5008424"/>
          </a:xfrm>
          <a:prstGeom prst="rect">
            <a:avLst/>
          </a:prstGeom>
        </p:spPr>
      </p:pic>
    </p:spTree>
    <p:extLst>
      <p:ext uri="{BB962C8B-B14F-4D97-AF65-F5344CB8AC3E}">
        <p14:creationId xmlns:p14="http://schemas.microsoft.com/office/powerpoint/2010/main" val="2137826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B5927C9-9FF8-E4FC-7898-72ABD1D6A69B}"/>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2" name="TextBox 1">
            <a:extLst>
              <a:ext uri="{FF2B5EF4-FFF2-40B4-BE49-F238E27FC236}">
                <a16:creationId xmlns:a16="http://schemas.microsoft.com/office/drawing/2014/main" id="{1D1247F9-B772-F3C8-7471-DD52EC47395A}"/>
              </a:ext>
            </a:extLst>
          </p:cNvPr>
          <p:cNvSpPr txBox="1"/>
          <p:nvPr/>
        </p:nvSpPr>
        <p:spPr>
          <a:xfrm>
            <a:off x="682267" y="878124"/>
            <a:ext cx="4010757" cy="502702"/>
          </a:xfrm>
          <a:prstGeom prst="rect">
            <a:avLst/>
          </a:prstGeom>
          <a:noFill/>
        </p:spPr>
        <p:txBody>
          <a:bodyPr wrap="square" rtlCol="0">
            <a:spAutoFit/>
          </a:bodyPr>
          <a:lstStyle/>
          <a:p>
            <a:r>
              <a:rPr lang="en-US" sz="4000" b="1" baseline="-25000" dirty="0">
                <a:solidFill>
                  <a:srgbClr val="C00000"/>
                </a:solidFill>
                <a:latin typeface="Times New Roman" panose="02020603050405020304" pitchFamily="18" charset="0"/>
                <a:cs typeface="Times New Roman" panose="02020603050405020304" pitchFamily="18" charset="0"/>
              </a:rPr>
              <a:t>Using table to conclude:-</a:t>
            </a:r>
          </a:p>
        </p:txBody>
      </p:sp>
      <p:sp>
        <p:nvSpPr>
          <p:cNvPr id="3" name="Title 1">
            <a:extLst>
              <a:ext uri="{FF2B5EF4-FFF2-40B4-BE49-F238E27FC236}">
                <a16:creationId xmlns:a16="http://schemas.microsoft.com/office/drawing/2014/main" id="{E694D7DA-9875-472F-CF00-27BEC5AED546}"/>
              </a:ext>
            </a:extLst>
          </p:cNvPr>
          <p:cNvSpPr txBox="1">
            <a:spLocks/>
          </p:cNvSpPr>
          <p:nvPr/>
        </p:nvSpPr>
        <p:spPr>
          <a:xfrm>
            <a:off x="4002769" y="172941"/>
            <a:ext cx="4093605" cy="408145"/>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solidFill>
                  <a:srgbClr val="0033CC"/>
                </a:solidFill>
                <a:latin typeface="Book Antiqua" panose="02040602050305030304" pitchFamily="18" charset="0"/>
              </a:rPr>
              <a:t> Conclusion</a:t>
            </a:r>
            <a:endParaRPr lang="en-US" sz="4000" b="1" dirty="0">
              <a:solidFill>
                <a:srgbClr val="0033CC"/>
              </a:solidFill>
              <a:latin typeface="Book Antiqua" panose="02040602050305030304" pitchFamily="18" charset="0"/>
            </a:endParaRPr>
          </a:p>
        </p:txBody>
      </p:sp>
      <p:graphicFrame>
        <p:nvGraphicFramePr>
          <p:cNvPr id="4" name="Table 3">
            <a:extLst>
              <a:ext uri="{FF2B5EF4-FFF2-40B4-BE49-F238E27FC236}">
                <a16:creationId xmlns:a16="http://schemas.microsoft.com/office/drawing/2014/main" id="{FB1EAE24-4E04-3F28-25CB-80D8722D9B63}"/>
              </a:ext>
            </a:extLst>
          </p:cNvPr>
          <p:cNvGraphicFramePr>
            <a:graphicFrameLocks noGrp="1"/>
          </p:cNvGraphicFramePr>
          <p:nvPr>
            <p:extLst>
              <p:ext uri="{D42A27DB-BD31-4B8C-83A1-F6EECF244321}">
                <p14:modId xmlns:p14="http://schemas.microsoft.com/office/powerpoint/2010/main" val="267327727"/>
              </p:ext>
            </p:extLst>
          </p:nvPr>
        </p:nvGraphicFramePr>
        <p:xfrm>
          <a:off x="484093" y="2286000"/>
          <a:ext cx="10555942" cy="3181310"/>
        </p:xfrm>
        <a:graphic>
          <a:graphicData uri="http://schemas.openxmlformats.org/drawingml/2006/table">
            <a:tbl>
              <a:tblPr firstRow="1" bandRow="1">
                <a:tableStyleId>{5C22544A-7EE6-4342-B048-85BDC9FD1C3A}</a:tableStyleId>
              </a:tblPr>
              <a:tblGrid>
                <a:gridCol w="5277971">
                  <a:extLst>
                    <a:ext uri="{9D8B030D-6E8A-4147-A177-3AD203B41FA5}">
                      <a16:colId xmlns:a16="http://schemas.microsoft.com/office/drawing/2014/main" val="835928416"/>
                    </a:ext>
                  </a:extLst>
                </a:gridCol>
                <a:gridCol w="5277971">
                  <a:extLst>
                    <a:ext uri="{9D8B030D-6E8A-4147-A177-3AD203B41FA5}">
                      <a16:colId xmlns:a16="http://schemas.microsoft.com/office/drawing/2014/main" val="2413028361"/>
                    </a:ext>
                  </a:extLst>
                </a:gridCol>
              </a:tblGrid>
              <a:tr h="401920">
                <a:tc>
                  <a:txBody>
                    <a:bodyPr/>
                    <a:lstStyle/>
                    <a:p>
                      <a:r>
                        <a:rPr lang="en-US" dirty="0"/>
                        <a:t>Key findings </a:t>
                      </a:r>
                    </a:p>
                  </a:txBody>
                  <a:tcPr/>
                </a:tc>
                <a:tc>
                  <a:txBody>
                    <a:bodyPr/>
                    <a:lstStyle/>
                    <a:p>
                      <a:r>
                        <a:rPr lang="en-US" dirty="0"/>
                        <a:t>Their Implications</a:t>
                      </a:r>
                    </a:p>
                  </a:txBody>
                  <a:tcPr/>
                </a:tc>
                <a:extLst>
                  <a:ext uri="{0D108BD9-81ED-4DB2-BD59-A6C34878D82A}">
                    <a16:rowId xmlns:a16="http://schemas.microsoft.com/office/drawing/2014/main" val="1498434880"/>
                  </a:ext>
                </a:extLst>
              </a:tr>
              <a:tr h="401920">
                <a:tc>
                  <a:txBody>
                    <a:bodyPr/>
                    <a:lstStyle/>
                    <a:p>
                      <a:r>
                        <a:rPr lang="en-US" dirty="0"/>
                        <a:t>Calls generated the highest net amount.</a:t>
                      </a:r>
                    </a:p>
                  </a:txBody>
                  <a:tcPr/>
                </a:tc>
                <a:tc>
                  <a:txBody>
                    <a:bodyPr/>
                    <a:lstStyle/>
                    <a:p>
                      <a:r>
                        <a:rPr lang="en-US" dirty="0"/>
                        <a:t>Investment should be on sales.</a:t>
                      </a:r>
                    </a:p>
                  </a:txBody>
                  <a:tcPr/>
                </a:tc>
                <a:extLst>
                  <a:ext uri="{0D108BD9-81ED-4DB2-BD59-A6C34878D82A}">
                    <a16:rowId xmlns:a16="http://schemas.microsoft.com/office/drawing/2014/main" val="4212130143"/>
                  </a:ext>
                </a:extLst>
              </a:tr>
              <a:tr h="401920">
                <a:tc>
                  <a:txBody>
                    <a:bodyPr/>
                    <a:lstStyle/>
                    <a:p>
                      <a:r>
                        <a:rPr lang="en-US" dirty="0"/>
                        <a:t>Burnout risk of the agents and no need of hiring agents.</a:t>
                      </a:r>
                    </a:p>
                  </a:txBody>
                  <a:tcPr/>
                </a:tc>
                <a:tc>
                  <a:txBody>
                    <a:bodyPr/>
                    <a:lstStyle/>
                    <a:p>
                      <a:r>
                        <a:rPr lang="en-US" dirty="0"/>
                        <a:t>Proper distribution of agents.</a:t>
                      </a:r>
                    </a:p>
                  </a:txBody>
                  <a:tcPr/>
                </a:tc>
                <a:extLst>
                  <a:ext uri="{0D108BD9-81ED-4DB2-BD59-A6C34878D82A}">
                    <a16:rowId xmlns:a16="http://schemas.microsoft.com/office/drawing/2014/main" val="3688136298"/>
                  </a:ext>
                </a:extLst>
              </a:tr>
              <a:tr h="695390">
                <a:tc>
                  <a:txBody>
                    <a:bodyPr/>
                    <a:lstStyle/>
                    <a:p>
                      <a:r>
                        <a:rPr lang="en-US" dirty="0"/>
                        <a:t>Customer satisfaction is poor with overload work agents.</a:t>
                      </a:r>
                    </a:p>
                  </a:txBody>
                  <a:tcPr/>
                </a:tc>
                <a:tc>
                  <a:txBody>
                    <a:bodyPr/>
                    <a:lstStyle/>
                    <a:p>
                      <a:r>
                        <a:rPr lang="en-US" dirty="0"/>
                        <a:t>Proper training should be given and performance analysis on regular basis.</a:t>
                      </a:r>
                    </a:p>
                  </a:txBody>
                  <a:tcPr/>
                </a:tc>
                <a:extLst>
                  <a:ext uri="{0D108BD9-81ED-4DB2-BD59-A6C34878D82A}">
                    <a16:rowId xmlns:a16="http://schemas.microsoft.com/office/drawing/2014/main" val="553021644"/>
                  </a:ext>
                </a:extLst>
              </a:tr>
              <a:tr h="401920">
                <a:tc>
                  <a:txBody>
                    <a:bodyPr/>
                    <a:lstStyle/>
                    <a:p>
                      <a:r>
                        <a:rPr lang="en-US" dirty="0"/>
                        <a:t>Technology Enhancement </a:t>
                      </a:r>
                    </a:p>
                  </a:txBody>
                  <a:tcPr/>
                </a:tc>
                <a:tc>
                  <a:txBody>
                    <a:bodyPr/>
                    <a:lstStyle/>
                    <a:p>
                      <a:r>
                        <a:rPr lang="en-US" dirty="0"/>
                        <a:t>Implementation of AI chatbot/Agents.</a:t>
                      </a:r>
                    </a:p>
                  </a:txBody>
                  <a:tcPr/>
                </a:tc>
                <a:extLst>
                  <a:ext uri="{0D108BD9-81ED-4DB2-BD59-A6C34878D82A}">
                    <a16:rowId xmlns:a16="http://schemas.microsoft.com/office/drawing/2014/main" val="2692194686"/>
                  </a:ext>
                </a:extLst>
              </a:tr>
              <a:tr h="401920">
                <a:tc>
                  <a:txBody>
                    <a:bodyPr/>
                    <a:lstStyle/>
                    <a:p>
                      <a:r>
                        <a:rPr lang="en-US" dirty="0"/>
                        <a:t>Astro guru data should be benchmarked with Astro sage.</a:t>
                      </a:r>
                    </a:p>
                  </a:txBody>
                  <a:tcPr/>
                </a:tc>
                <a:tc>
                  <a:txBody>
                    <a:bodyPr/>
                    <a:lstStyle/>
                    <a:p>
                      <a:r>
                        <a:rPr lang="en-US" dirty="0"/>
                        <a:t>Because to analyze the competitive business area and implementation of the services in that area.</a:t>
                      </a:r>
                    </a:p>
                  </a:txBody>
                  <a:tcPr/>
                </a:tc>
                <a:extLst>
                  <a:ext uri="{0D108BD9-81ED-4DB2-BD59-A6C34878D82A}">
                    <a16:rowId xmlns:a16="http://schemas.microsoft.com/office/drawing/2014/main" val="3082726922"/>
                  </a:ext>
                </a:extLst>
              </a:tr>
            </a:tbl>
          </a:graphicData>
        </a:graphic>
      </p:graphicFrame>
      <p:pic>
        <p:nvPicPr>
          <p:cNvPr id="5" name="Picture 4" descr="Astrosage Company Profile Funding ...">
            <a:extLst>
              <a:ext uri="{FF2B5EF4-FFF2-40B4-BE49-F238E27FC236}">
                <a16:creationId xmlns:a16="http://schemas.microsoft.com/office/drawing/2014/main" id="{6E54BE7E-CC4F-FA4B-C913-16905FB2D4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628" b="22756"/>
          <a:stretch>
            <a:fillRect/>
          </a:stretch>
        </p:blipFill>
        <p:spPr bwMode="auto">
          <a:xfrm>
            <a:off x="5266661" y="5732649"/>
            <a:ext cx="1658678" cy="988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97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B5927C9-9FF8-E4FC-7898-72ABD1D6A69B}"/>
              </a:ext>
            </a:extLst>
          </p:cNvPr>
          <p:cNvSpPr/>
          <p:nvPr/>
        </p:nvSpPr>
        <p:spPr>
          <a:xfrm rot="10800000">
            <a:off x="0" y="688005"/>
            <a:ext cx="12192000" cy="85268"/>
          </a:xfrm>
          <a:prstGeom prst="roundRect">
            <a:avLst/>
          </a:prstGeom>
          <a:gradFill flip="none" rotWithShape="1">
            <a:gsLst>
              <a:gs pos="0">
                <a:srgbClr val="00B0F0"/>
              </a:gs>
              <a:gs pos="75000">
                <a:srgbClr val="FFFF00"/>
              </a:gs>
              <a:gs pos="100000">
                <a:schemeClr val="accent1">
                  <a:lumMod val="30000"/>
                  <a:lumOff val="70000"/>
                </a:schemeClr>
              </a:gs>
            </a:gsLst>
            <a:path path="circle">
              <a:fillToRect l="100000" t="100000"/>
            </a:path>
            <a:tileRect r="-100000" b="-100000"/>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287" dirty="0"/>
          </a:p>
        </p:txBody>
      </p:sp>
      <p:sp>
        <p:nvSpPr>
          <p:cNvPr id="8" name="Title 1">
            <a:extLst>
              <a:ext uri="{FF2B5EF4-FFF2-40B4-BE49-F238E27FC236}">
                <a16:creationId xmlns:a16="http://schemas.microsoft.com/office/drawing/2014/main" id="{34A1E9FF-95CB-63E6-D336-FBA12A720E9A}"/>
              </a:ext>
            </a:extLst>
          </p:cNvPr>
          <p:cNvSpPr>
            <a:spLocks noGrp="1"/>
          </p:cNvSpPr>
          <p:nvPr>
            <p:ph type="title"/>
          </p:nvPr>
        </p:nvSpPr>
        <p:spPr>
          <a:xfrm>
            <a:off x="838200" y="136529"/>
            <a:ext cx="10515600" cy="408145"/>
          </a:xfrm>
        </p:spPr>
        <p:txBody>
          <a:bodyPr>
            <a:noAutofit/>
          </a:bodyPr>
          <a:lstStyle/>
          <a:p>
            <a:pPr algn="ctr"/>
            <a:r>
              <a:rPr lang="en-US" sz="4000" b="1" dirty="0">
                <a:solidFill>
                  <a:srgbClr val="0033CC"/>
                </a:solidFill>
                <a:latin typeface="Book Antiqua" panose="02040602050305030304" pitchFamily="18" charset="0"/>
              </a:rPr>
              <a:t> Acknowledgement</a:t>
            </a:r>
          </a:p>
        </p:txBody>
      </p:sp>
      <p:sp>
        <p:nvSpPr>
          <p:cNvPr id="3" name="TextBox 2">
            <a:extLst>
              <a:ext uri="{FF2B5EF4-FFF2-40B4-BE49-F238E27FC236}">
                <a16:creationId xmlns:a16="http://schemas.microsoft.com/office/drawing/2014/main" id="{895FD91E-CF22-515E-9167-335C78839C42}"/>
              </a:ext>
            </a:extLst>
          </p:cNvPr>
          <p:cNvSpPr txBox="1"/>
          <p:nvPr/>
        </p:nvSpPr>
        <p:spPr>
          <a:xfrm>
            <a:off x="1295400" y="1156447"/>
            <a:ext cx="9260541" cy="326865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solidFill>
                  <a:schemeClr val="bg2">
                    <a:lumMod val="25000"/>
                  </a:schemeClr>
                </a:solidFill>
                <a:latin typeface="Times New Roman" panose="02020603050405020304" pitchFamily="18" charset="0"/>
                <a:cs typeface="Times New Roman" panose="02020603050405020304" pitchFamily="18" charset="0"/>
              </a:rPr>
              <a:t>I will acknowledge the Newton school of Technology for giving me this opportunity to work on a real-world problems. Also, for providing  me the raw data for the analysis.</a:t>
            </a:r>
          </a:p>
          <a:p>
            <a:pPr marL="285750" indent="-285750" algn="just">
              <a:lnSpc>
                <a:spcPct val="150000"/>
              </a:lnSpc>
              <a:buFont typeface="Arial" panose="020B0604020202020204" pitchFamily="34" charset="0"/>
              <a:buChar char="•"/>
            </a:pPr>
            <a:r>
              <a:rPr lang="en-US" sz="2000" dirty="0">
                <a:solidFill>
                  <a:schemeClr val="bg2">
                    <a:lumMod val="25000"/>
                  </a:schemeClr>
                </a:solidFill>
                <a:latin typeface="Times New Roman" panose="02020603050405020304" pitchFamily="18" charset="0"/>
                <a:cs typeface="Times New Roman" panose="02020603050405020304" pitchFamily="18" charset="0"/>
              </a:rPr>
              <a:t>I will thank Mr. Vijay sir for this excel module who makes us to understand all the concepts of  excel and their advanced functions.</a:t>
            </a:r>
          </a:p>
          <a:p>
            <a:pPr marL="285750" indent="-285750" algn="just">
              <a:lnSpc>
                <a:spcPct val="150000"/>
              </a:lnSpc>
              <a:buFont typeface="Arial" panose="020B0604020202020204" pitchFamily="34" charset="0"/>
              <a:buChar char="•"/>
            </a:pPr>
            <a:r>
              <a:rPr lang="en-US" sz="2000" dirty="0">
                <a:solidFill>
                  <a:schemeClr val="bg2">
                    <a:lumMod val="25000"/>
                  </a:schemeClr>
                </a:solidFill>
                <a:latin typeface="Times New Roman" panose="02020603050405020304" pitchFamily="18" charset="0"/>
                <a:cs typeface="Times New Roman" panose="02020603050405020304" pitchFamily="18" charset="0"/>
              </a:rPr>
              <a:t>In last I will thank my course advisor Mr. Aditya for helping me through out this module and project.</a:t>
            </a:r>
          </a:p>
        </p:txBody>
      </p:sp>
      <p:pic>
        <p:nvPicPr>
          <p:cNvPr id="11266" name="Picture 2" descr="Applications of AI | Newton School">
            <a:extLst>
              <a:ext uri="{FF2B5EF4-FFF2-40B4-BE49-F238E27FC236}">
                <a16:creationId xmlns:a16="http://schemas.microsoft.com/office/drawing/2014/main" id="{A09D5EDF-CA77-771A-F23E-7D8D1C500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6926" y="4589321"/>
            <a:ext cx="7138148" cy="213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55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95D83D1-9899-A2AB-3286-B98D86B0E95E}"/>
              </a:ext>
            </a:extLst>
          </p:cNvPr>
          <p:cNvSpPr>
            <a:spLocks noGrp="1"/>
          </p:cNvSpPr>
          <p:nvPr>
            <p:ph type="sldNum" sz="quarter" idx="12"/>
          </p:nvPr>
        </p:nvSpPr>
        <p:spPr/>
        <p:txBody>
          <a:bodyPr/>
          <a:lstStyle/>
          <a:p>
            <a:fld id="{3C30CF92-A31B-4DB1-8729-0A0356E4B311}" type="slidenum">
              <a:rPr lang="en-US" smtClean="0"/>
              <a:t>15</a:t>
            </a:fld>
            <a:endParaRPr lang="en-US"/>
          </a:p>
        </p:txBody>
      </p:sp>
      <p:pic>
        <p:nvPicPr>
          <p:cNvPr id="8" name="Picture 7">
            <a:extLst>
              <a:ext uri="{FF2B5EF4-FFF2-40B4-BE49-F238E27FC236}">
                <a16:creationId xmlns:a16="http://schemas.microsoft.com/office/drawing/2014/main" id="{D38E7C34-DCED-E518-BF57-C89747EA62C4}"/>
              </a:ext>
            </a:extLst>
          </p:cNvPr>
          <p:cNvPicPr>
            <a:picLocks noChangeAspect="1"/>
          </p:cNvPicPr>
          <p:nvPr/>
        </p:nvPicPr>
        <p:blipFill>
          <a:blip r:embed="rId2"/>
          <a:stretch>
            <a:fillRect/>
          </a:stretch>
        </p:blipFill>
        <p:spPr>
          <a:xfrm>
            <a:off x="-28379" y="0"/>
            <a:ext cx="12220379" cy="6888772"/>
          </a:xfrm>
          <a:prstGeom prst="rect">
            <a:avLst/>
          </a:prstGeom>
        </p:spPr>
      </p:pic>
    </p:spTree>
    <p:extLst>
      <p:ext uri="{BB962C8B-B14F-4D97-AF65-F5344CB8AC3E}">
        <p14:creationId xmlns:p14="http://schemas.microsoft.com/office/powerpoint/2010/main" val="114054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Master Project presentation 3rd sem</Template>
  <TotalTime>598</TotalTime>
  <Words>1312</Words>
  <Application>Microsoft Office PowerPoint</Application>
  <PresentationFormat>Widescreen</PresentationFormat>
  <Paragraphs>179</Paragraphs>
  <Slides>15</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Bell MT</vt:lpstr>
      <vt:lpstr>Bodoni MT</vt:lpstr>
      <vt:lpstr>Book Antiqua</vt:lpstr>
      <vt:lpstr>Calibri</vt:lpstr>
      <vt:lpstr>Calibri Light</vt:lpstr>
      <vt:lpstr>Times New Roman</vt:lpstr>
      <vt:lpstr>Wingdings</vt:lpstr>
      <vt:lpstr>Office Theme</vt:lpstr>
      <vt:lpstr> PROJECT EXCEL-PPT</vt:lpstr>
      <vt:lpstr>  INTRODUCTION </vt:lpstr>
      <vt:lpstr>  </vt:lpstr>
      <vt:lpstr>PowerPoint Presentation</vt:lpstr>
      <vt:lpstr> ANALYSIS</vt:lpstr>
      <vt:lpstr> ANALYSIS</vt:lpstr>
      <vt:lpstr> ANALYSIS</vt:lpstr>
      <vt:lpstr> ANALYSIS</vt:lpstr>
      <vt:lpstr> ANALYSIS</vt:lpstr>
      <vt:lpstr> ANALYSIS</vt:lpstr>
      <vt:lpstr> Strategic Recommendations</vt:lpstr>
      <vt:lpstr> Dashboard And Visualizations</vt:lpstr>
      <vt:lpstr>PowerPoint Presentation</vt:lpstr>
      <vt:lpstr> Acknowledgement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 Yadav</dc:creator>
  <cp:lastModifiedBy>Aksh Yadav</cp:lastModifiedBy>
  <cp:revision>121</cp:revision>
  <dcterms:created xsi:type="dcterms:W3CDTF">2026-02-05T04:06:34Z</dcterms:created>
  <dcterms:modified xsi:type="dcterms:W3CDTF">2026-04-14T14:27:28Z</dcterms:modified>
</cp:coreProperties>
</file>